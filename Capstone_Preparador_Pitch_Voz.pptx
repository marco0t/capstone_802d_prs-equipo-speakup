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a9TM8Dpn7c7k6acJEZNIRNpSk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4.png"/><Relationship Id="rId6" Type="http://schemas.openxmlformats.org/officeDocument/2006/relationships/image" Target="../media/image3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10" Type="http://schemas.openxmlformats.org/officeDocument/2006/relationships/image" Target="../media/image31.png"/><Relationship Id="rId9" Type="http://schemas.openxmlformats.org/officeDocument/2006/relationships/image" Target="../media/image22.png"/><Relationship Id="rId5" Type="http://schemas.openxmlformats.org/officeDocument/2006/relationships/image" Target="../media/image8.png"/><Relationship Id="rId6" Type="http://schemas.openxmlformats.org/officeDocument/2006/relationships/image" Target="../media/image14.png"/><Relationship Id="rId7" Type="http://schemas.openxmlformats.org/officeDocument/2006/relationships/image" Target="../media/image20.png"/><Relationship Id="rId8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29.png"/><Relationship Id="rId5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12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8778240" y="-1371600"/>
            <a:ext cx="5486400" cy="5486400"/>
          </a:xfrm>
          <a:prstGeom prst="ellipse">
            <a:avLst/>
          </a:prstGeom>
          <a:solidFill>
            <a:srgbClr val="1B1D42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10241280" y="4206240"/>
            <a:ext cx="3657600" cy="3657600"/>
          </a:xfrm>
          <a:prstGeom prst="ellipse">
            <a:avLst/>
          </a:prstGeom>
          <a:solidFill>
            <a:srgbClr val="8B7CFA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800100" y="754380"/>
            <a:ext cx="868680" cy="868680"/>
          </a:xfrm>
          <a:prstGeom prst="ellipse">
            <a:avLst/>
          </a:prstGeom>
          <a:solidFill>
            <a:srgbClr val="3FE0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_waveform.png" id="19" name="Google Shape;1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7270" y="971550"/>
            <a:ext cx="434340" cy="43434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"/>
          <p:cNvSpPr/>
          <p:nvPr/>
        </p:nvSpPr>
        <p:spPr>
          <a:xfrm>
            <a:off x="548640" y="1965960"/>
            <a:ext cx="85039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5F5FA"/>
                </a:solidFill>
                <a:latin typeface="Cambria"/>
                <a:ea typeface="Cambria"/>
                <a:cs typeface="Cambria"/>
                <a:sym typeface="Cambria"/>
              </a:rPr>
              <a:t>PREPARADOR DE PITCH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5F5FA"/>
                </a:solidFill>
                <a:latin typeface="Cambria"/>
                <a:ea typeface="Cambria"/>
                <a:cs typeface="Cambria"/>
                <a:sym typeface="Cambria"/>
              </a:rPr>
              <a:t>POR VOZ Y REDACCIÓN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48650" y="3748075"/>
            <a:ext cx="6995100" cy="28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Sistema de práctica y análisis de pitch por voz, orientado a estudiantes con ansiedad social o del habla</a:t>
            </a:r>
            <a:endParaRPr b="0" i="1" sz="1600" u="none" cap="none" strike="noStrike">
              <a:solidFill>
                <a:srgbClr val="A7ABD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600"/>
              <a:buFont typeface="Calibri"/>
              <a:buNone/>
            </a:pPr>
            <a:r>
              <a:t/>
            </a:r>
            <a:endParaRPr i="1" sz="1600">
              <a:solidFill>
                <a:srgbClr val="A7ABD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600"/>
              <a:buFont typeface="Calibri"/>
              <a:buNone/>
            </a:pPr>
            <a:r>
              <a:rPr i="1" lang="en-US" sz="1600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Capstone_802D_PRS</a:t>
            </a:r>
            <a:endParaRPr i="1" sz="1600">
              <a:solidFill>
                <a:srgbClr val="A7ABD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600"/>
              <a:buFont typeface="Calibri"/>
              <a:buNone/>
            </a:pPr>
            <a:r>
              <a:t/>
            </a:r>
            <a:endParaRPr i="1" sz="1600">
              <a:solidFill>
                <a:srgbClr val="A7ABD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600"/>
              <a:buFont typeface="Calibri"/>
              <a:buNone/>
            </a:pPr>
            <a:r>
              <a:rPr i="1" lang="en-US" sz="1600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Profesor: Aldo Alberto Martinez Ordenes</a:t>
            </a:r>
            <a:endParaRPr i="1" sz="1600">
              <a:solidFill>
                <a:srgbClr val="A7ABD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600"/>
              <a:buFont typeface="Calibri"/>
              <a:buNone/>
            </a:pPr>
            <a:r>
              <a:t/>
            </a:r>
            <a:endParaRPr i="1" sz="1600">
              <a:solidFill>
                <a:srgbClr val="A7ABD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600"/>
              <a:buFont typeface="Calibri"/>
              <a:buNone/>
            </a:pPr>
            <a:r>
              <a:rPr i="1" lang="en-US" sz="1600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Integrantes: Marco Toloza, Dante Sepulveda</a:t>
            </a:r>
            <a:endParaRPr i="1" sz="1600">
              <a:solidFill>
                <a:srgbClr val="A7ABD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818120" y="502920"/>
            <a:ext cx="3886200" cy="5989320"/>
          </a:xfrm>
          <a:prstGeom prst="roundRect">
            <a:avLst>
              <a:gd fmla="val 3294" name="adj"/>
            </a:avLst>
          </a:prstGeom>
          <a:solidFill>
            <a:srgbClr val="1B1D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8183830" y="971545"/>
            <a:ext cx="3200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E0D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FE0D0"/>
                </a:solidFill>
                <a:latin typeface="Calibri"/>
                <a:ea typeface="Calibri"/>
                <a:cs typeface="Calibri"/>
                <a:sym typeface="Calibri"/>
              </a:rPr>
              <a:t>ÍNDICE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 txBox="1"/>
          <p:nvPr/>
        </p:nvSpPr>
        <p:spPr>
          <a:xfrm>
            <a:off x="8161025" y="1623049"/>
            <a:ext cx="3246000" cy="46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1350"/>
              <a:buFont typeface="Calibri"/>
              <a:buNone/>
            </a:pPr>
            <a:r>
              <a:rPr b="0" i="0" lang="en-US" sz="1600" u="none" cap="none" strike="noStrike">
                <a:solidFill>
                  <a:srgbClr val="F5F5FA"/>
                </a:solidFill>
                <a:latin typeface="Calibri"/>
                <a:ea typeface="Calibri"/>
                <a:cs typeface="Calibri"/>
                <a:sym typeface="Calibri"/>
              </a:rPr>
              <a:t>01   Introducción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Clr>
                <a:srgbClr val="F5F5FA"/>
              </a:buClr>
              <a:buSzPts val="1350"/>
              <a:buFont typeface="Calibri"/>
              <a:buNone/>
            </a:pPr>
            <a:r>
              <a:rPr b="0" i="0" lang="en-US" sz="1600" u="none" cap="none" strike="noStrike">
                <a:solidFill>
                  <a:srgbClr val="F5F5FA"/>
                </a:solidFill>
                <a:latin typeface="Calibri"/>
                <a:ea typeface="Calibri"/>
                <a:cs typeface="Calibri"/>
                <a:sym typeface="Calibri"/>
              </a:rPr>
              <a:t>02   Contexto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Clr>
                <a:srgbClr val="F5F5FA"/>
              </a:buClr>
              <a:buSzPts val="1350"/>
              <a:buFont typeface="Calibri"/>
              <a:buNone/>
            </a:pPr>
            <a:r>
              <a:rPr b="0" i="0" lang="en-US" sz="1600" u="none" cap="none" strike="noStrike">
                <a:solidFill>
                  <a:srgbClr val="F5F5FA"/>
                </a:solidFill>
                <a:latin typeface="Calibri"/>
                <a:ea typeface="Calibri"/>
                <a:cs typeface="Calibri"/>
                <a:sym typeface="Calibri"/>
              </a:rPr>
              <a:t>03   Problemática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Clr>
                <a:srgbClr val="F5F5FA"/>
              </a:buClr>
              <a:buSzPts val="1350"/>
              <a:buFont typeface="Calibri"/>
              <a:buNone/>
            </a:pPr>
            <a:r>
              <a:rPr b="0" i="0" lang="en-US" sz="1600" u="none" cap="none" strike="noStrike">
                <a:solidFill>
                  <a:srgbClr val="F5F5FA"/>
                </a:solidFill>
                <a:latin typeface="Calibri"/>
                <a:ea typeface="Calibri"/>
                <a:cs typeface="Calibri"/>
                <a:sym typeface="Calibri"/>
              </a:rPr>
              <a:t>04   Solución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Clr>
                <a:srgbClr val="F5F5FA"/>
              </a:buClr>
              <a:buSzPts val="1350"/>
              <a:buFont typeface="Calibri"/>
              <a:buNone/>
            </a:pPr>
            <a:r>
              <a:rPr b="0" i="0" lang="en-US" sz="1600" u="none" cap="none" strike="noStrike">
                <a:solidFill>
                  <a:srgbClr val="F5F5FA"/>
                </a:solidFill>
                <a:latin typeface="Calibri"/>
                <a:ea typeface="Calibri"/>
                <a:cs typeface="Calibri"/>
                <a:sym typeface="Calibri"/>
              </a:rPr>
              <a:t>05   Metodología / Plan / Roles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Clr>
                <a:srgbClr val="F5F5FA"/>
              </a:buClr>
              <a:buSzPts val="1350"/>
              <a:buFont typeface="Calibri"/>
              <a:buNone/>
            </a:pPr>
            <a:r>
              <a:rPr b="0" i="0" lang="en-US" sz="1600" u="none" cap="none" strike="noStrike">
                <a:solidFill>
                  <a:srgbClr val="F5F5FA"/>
                </a:solidFill>
                <a:latin typeface="Calibri"/>
                <a:ea typeface="Calibri"/>
                <a:cs typeface="Calibri"/>
                <a:sym typeface="Calibri"/>
              </a:rPr>
              <a:t>06   Mapa Tecnológico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Clr>
                <a:srgbClr val="F5F5FA"/>
              </a:buClr>
              <a:buSzPts val="1350"/>
              <a:buFont typeface="Calibri"/>
              <a:buNone/>
            </a:pPr>
            <a:r>
              <a:rPr b="0" i="0" lang="en-US" sz="1600" u="none" cap="none" strike="noStrike">
                <a:solidFill>
                  <a:srgbClr val="F5F5FA"/>
                </a:solidFill>
                <a:latin typeface="Calibri"/>
                <a:ea typeface="Calibri"/>
                <a:cs typeface="Calibri"/>
                <a:sym typeface="Calibri"/>
              </a:rPr>
              <a:t>07   Competencias, Riesgos y Seguridad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Clr>
                <a:srgbClr val="F5F5FA"/>
              </a:buClr>
              <a:buSzPts val="1350"/>
              <a:buFont typeface="Calibri"/>
              <a:buNone/>
            </a:pPr>
            <a:r>
              <a:rPr b="0" i="0" lang="en-US" sz="1600" u="none" cap="none" strike="noStrike">
                <a:solidFill>
                  <a:srgbClr val="F5F5FA"/>
                </a:solidFill>
                <a:latin typeface="Calibri"/>
                <a:ea typeface="Calibri"/>
                <a:cs typeface="Calibri"/>
                <a:sym typeface="Calibri"/>
              </a:rPr>
              <a:t>08   Modelo de Negocio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Clr>
                <a:srgbClr val="F5F5FA"/>
              </a:buClr>
              <a:buSzPts val="1350"/>
              <a:buFont typeface="Calibri"/>
              <a:buNone/>
            </a:pPr>
            <a:r>
              <a:rPr b="0" i="0" lang="en-US" sz="1600" u="none" cap="none" strike="noStrike">
                <a:solidFill>
                  <a:srgbClr val="F5F5FA"/>
                </a:solidFill>
                <a:latin typeface="Calibri"/>
                <a:ea typeface="Calibri"/>
                <a:cs typeface="Calibri"/>
                <a:sym typeface="Calibri"/>
              </a:rPr>
              <a:t>09   Mockup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Clr>
                <a:srgbClr val="F5F5FA"/>
              </a:buClr>
              <a:buSzPts val="1350"/>
              <a:buFont typeface="Calibri"/>
              <a:buNone/>
            </a:pPr>
            <a:r>
              <a:rPr b="0" i="0" lang="en-US" sz="1600" u="none" cap="none" strike="noStrike">
                <a:solidFill>
                  <a:srgbClr val="F5F5FA"/>
                </a:solidFill>
                <a:latin typeface="Calibri"/>
                <a:ea typeface="Calibri"/>
                <a:cs typeface="Calibri"/>
                <a:sym typeface="Calibri"/>
              </a:rPr>
              <a:t>10   Conclusión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12B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548640" y="713232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5F5FA"/>
                </a:solidFill>
                <a:latin typeface="Cambria"/>
                <a:ea typeface="Cambria"/>
                <a:cs typeface="Cambria"/>
                <a:sym typeface="Cambria"/>
              </a:rPr>
              <a:t>Qué es y para quién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548640" y="1691640"/>
            <a:ext cx="5394960" cy="4480560"/>
          </a:xfrm>
          <a:prstGeom prst="roundRect">
            <a:avLst>
              <a:gd fmla="val 2857" name="adj"/>
            </a:avLst>
          </a:prstGeom>
          <a:solidFill>
            <a:srgbClr val="1B1D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937260" y="1988820"/>
            <a:ext cx="685800" cy="685800"/>
          </a:xfrm>
          <a:prstGeom prst="ellipse">
            <a:avLst/>
          </a:prstGeom>
          <a:solidFill>
            <a:srgbClr val="3FE0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_comments.png" id="33" name="Google Shape;3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8710" y="2160270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2"/>
          <p:cNvSpPr/>
          <p:nvPr/>
        </p:nvSpPr>
        <p:spPr>
          <a:xfrm>
            <a:off x="1737360" y="201168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F5F5FA"/>
                </a:solidFill>
                <a:latin typeface="Cambria"/>
                <a:ea typeface="Cambria"/>
                <a:cs typeface="Cambria"/>
                <a:sym typeface="Cambria"/>
              </a:rPr>
              <a:t>¿Qué es?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914400" y="2880360"/>
            <a:ext cx="466344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Un sistema basado en voz que escucha, transcribe y analiza discursos, pitchs o presentaciones antes del día real. Cuenta con un diccionario/base de datos que ayuda a resumir, interpretar y mejorar lo que dice el usuario.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6217920" y="1691640"/>
            <a:ext cx="5394960" cy="4480560"/>
          </a:xfrm>
          <a:prstGeom prst="roundRect">
            <a:avLst>
              <a:gd fmla="val 2857" name="adj"/>
            </a:avLst>
          </a:prstGeom>
          <a:solidFill>
            <a:srgbClr val="1B1D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6606540" y="1988820"/>
            <a:ext cx="685800" cy="685800"/>
          </a:xfrm>
          <a:prstGeom prst="ellipse">
            <a:avLst/>
          </a:prstGeom>
          <a:solidFill>
            <a:srgbClr val="8B7C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_users.png" id="38" name="Google Shape;3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77990" y="2160270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2"/>
          <p:cNvSpPr/>
          <p:nvPr/>
        </p:nvSpPr>
        <p:spPr>
          <a:xfrm>
            <a:off x="7406640" y="201168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F5F5FA"/>
                </a:solidFill>
                <a:latin typeface="Cambria"/>
                <a:ea typeface="Cambria"/>
                <a:cs typeface="Cambria"/>
                <a:sym typeface="Cambria"/>
              </a:rPr>
              <a:t>Contexto: ¿a quién ayuda?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 txBox="1"/>
          <p:nvPr/>
        </p:nvSpPr>
        <p:spPr>
          <a:xfrm>
            <a:off x="6400800" y="2971800"/>
            <a:ext cx="502920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1450"/>
              <a:buFont typeface="Calibri"/>
              <a:buChar char="●"/>
            </a:pPr>
            <a:r>
              <a:rPr b="0" i="0" lang="en-US" sz="1450" u="none" cap="none" strike="noStrike">
                <a:solidFill>
                  <a:srgbClr val="F5F5FA"/>
                </a:solidFill>
                <a:latin typeface="Calibri"/>
                <a:ea typeface="Calibri"/>
                <a:cs typeface="Calibri"/>
                <a:sym typeface="Calibri"/>
              </a:rPr>
              <a:t>Estudiantes que preparan discursos o presentaciones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F5F5FA"/>
              </a:buClr>
              <a:buSzPts val="1450"/>
              <a:buFont typeface="Calibri"/>
              <a:buChar char="●"/>
            </a:pPr>
            <a:r>
              <a:rPr b="0" i="0" lang="en-US" sz="1450" u="none" cap="none" strike="noStrike">
                <a:solidFill>
                  <a:srgbClr val="F5F5FA"/>
                </a:solidFill>
                <a:latin typeface="Calibri"/>
                <a:ea typeface="Calibri"/>
                <a:cs typeface="Calibri"/>
                <a:sym typeface="Calibri"/>
              </a:rPr>
              <a:t>Personas con ansiedad social o trastornos del habla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F5F5FA"/>
              </a:buClr>
              <a:buSzPts val="1450"/>
              <a:buFont typeface="Calibri"/>
              <a:buChar char="●"/>
            </a:pPr>
            <a:r>
              <a:rPr b="0" i="0" lang="en-US" sz="1450" u="none" cap="none" strike="noStrike">
                <a:solidFill>
                  <a:srgbClr val="F5F5FA"/>
                </a:solidFill>
                <a:latin typeface="Calibri"/>
                <a:ea typeface="Calibri"/>
                <a:cs typeface="Calibri"/>
                <a:sym typeface="Calibri"/>
              </a:rPr>
              <a:t>Personas nerviosas antes de presentar o postular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F5F5FA"/>
              </a:buClr>
              <a:buSzPts val="1450"/>
              <a:buFont typeface="Calibri"/>
              <a:buChar char="●"/>
            </a:pPr>
            <a:r>
              <a:rPr b="0" i="0" lang="en-US" sz="1450" u="none" cap="none" strike="noStrike">
                <a:solidFill>
                  <a:srgbClr val="F5F5FA"/>
                </a:solidFill>
                <a:latin typeface="Calibri"/>
                <a:ea typeface="Calibri"/>
                <a:cs typeface="Calibri"/>
                <a:sym typeface="Calibri"/>
              </a:rPr>
              <a:t>Quienes se preparan para una entrevista de trabajo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12B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"/>
          <p:cNvSpPr/>
          <p:nvPr/>
        </p:nvSpPr>
        <p:spPr>
          <a:xfrm>
            <a:off x="548640" y="713232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5F5FA"/>
                </a:solidFill>
                <a:latin typeface="Cambria"/>
                <a:ea typeface="Cambria"/>
                <a:cs typeface="Cambria"/>
                <a:sym typeface="Cambria"/>
              </a:rPr>
              <a:t>El problema que enfrentan los usuarios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868680" y="2606040"/>
            <a:ext cx="1920240" cy="1920240"/>
          </a:xfrm>
          <a:prstGeom prst="ellipse">
            <a:avLst/>
          </a:prstGeom>
          <a:solidFill>
            <a:srgbClr val="F0A8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_warning.png" id="48" name="Google Shape;4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8740" y="3086100"/>
            <a:ext cx="960120" cy="96012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3"/>
          <p:cNvSpPr/>
          <p:nvPr/>
        </p:nvSpPr>
        <p:spPr>
          <a:xfrm>
            <a:off x="4114800" y="1783080"/>
            <a:ext cx="7498080" cy="1417320"/>
          </a:xfrm>
          <a:prstGeom prst="roundRect">
            <a:avLst>
              <a:gd fmla="val 7742" name="adj"/>
            </a:avLst>
          </a:prstGeom>
          <a:solidFill>
            <a:srgbClr val="1B1D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4434840" y="1892808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868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0A868"/>
                </a:solidFill>
                <a:latin typeface="Cambria"/>
                <a:ea typeface="Cambria"/>
                <a:cs typeface="Cambria"/>
                <a:sym typeface="Cambria"/>
              </a:rPr>
              <a:t>Sin espacio seguro para practicar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4434840" y="2258568"/>
            <a:ext cx="6858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No existe una forma accesible de ensayar un pitch y recibir feedback real antes del día de la presentación.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4114800" y="3383280"/>
            <a:ext cx="7498080" cy="1417320"/>
          </a:xfrm>
          <a:prstGeom prst="roundRect">
            <a:avLst>
              <a:gd fmla="val 7742" name="adj"/>
            </a:avLst>
          </a:prstGeom>
          <a:solidFill>
            <a:srgbClr val="1B1D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4434840" y="3493008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868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0A868"/>
                </a:solidFill>
                <a:latin typeface="Cambria"/>
                <a:ea typeface="Cambria"/>
                <a:cs typeface="Cambria"/>
                <a:sym typeface="Cambria"/>
              </a:rPr>
              <a:t>Ansiedad social y del habla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4434840" y="3858768"/>
            <a:ext cx="6858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Quienes tienen trastornos de ansiedad o del habla enfrentan más dificultad para prepararse por su cuenta.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4114800" y="4983480"/>
            <a:ext cx="7498080" cy="1417320"/>
          </a:xfrm>
          <a:prstGeom prst="roundRect">
            <a:avLst>
              <a:gd fmla="val 7742" name="adj"/>
            </a:avLst>
          </a:prstGeom>
          <a:solidFill>
            <a:srgbClr val="1B1D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4434840" y="5093208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868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0A868"/>
                </a:solidFill>
                <a:latin typeface="Cambria"/>
                <a:ea typeface="Cambria"/>
                <a:cs typeface="Cambria"/>
                <a:sym typeface="Cambria"/>
              </a:rPr>
              <a:t>Nerviosismo reduce el rendimiento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4434840" y="5458968"/>
            <a:ext cx="6858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La falta de práctica y retroalimentación aumenta el nerviosismo y baja la calidad de la presentación final.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12B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/>
          <p:nvPr/>
        </p:nvSpPr>
        <p:spPr>
          <a:xfrm>
            <a:off x="548640" y="713232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5F5FA"/>
                </a:solidFill>
                <a:latin typeface="Cambria"/>
                <a:ea typeface="Cambria"/>
                <a:cs typeface="Cambria"/>
                <a:sym typeface="Cambria"/>
              </a:rPr>
              <a:t>Cómo lo resuelve el sistema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548640" y="1965960"/>
            <a:ext cx="2606040" cy="4023360"/>
          </a:xfrm>
          <a:prstGeom prst="roundRect">
            <a:avLst>
              <a:gd fmla="val 4912" name="adj"/>
            </a:avLst>
          </a:prstGeom>
          <a:solidFill>
            <a:srgbClr val="1B1D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1440180" y="2240280"/>
            <a:ext cx="822960" cy="822960"/>
          </a:xfrm>
          <a:prstGeom prst="ellipse">
            <a:avLst/>
          </a:prstGeom>
          <a:solidFill>
            <a:srgbClr val="3FE0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_mic.png" id="66" name="Google Shape;6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5920" y="24460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4"/>
          <p:cNvSpPr/>
          <p:nvPr/>
        </p:nvSpPr>
        <p:spPr>
          <a:xfrm>
            <a:off x="685800" y="3200400"/>
            <a:ext cx="2331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5F5FA"/>
                </a:solidFill>
                <a:latin typeface="Cambria"/>
                <a:ea typeface="Cambria"/>
                <a:cs typeface="Cambria"/>
                <a:sym typeface="Cambria"/>
              </a:rPr>
              <a:t>Escucha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731520" y="3657600"/>
            <a:ext cx="224028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El usuario presiona "Comenzar pitch" y el sistema accede al micrófono para escuchar su discurso.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3108960" y="370332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3383280" y="1965960"/>
            <a:ext cx="2606040" cy="4023360"/>
          </a:xfrm>
          <a:prstGeom prst="roundRect">
            <a:avLst>
              <a:gd fmla="val 4912" name="adj"/>
            </a:avLst>
          </a:prstGeom>
          <a:solidFill>
            <a:srgbClr val="1B1D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4274820" y="2240280"/>
            <a:ext cx="822960" cy="822960"/>
          </a:xfrm>
          <a:prstGeom prst="ellipse">
            <a:avLst/>
          </a:prstGeom>
          <a:solidFill>
            <a:srgbClr val="8B7C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_waveform.png" id="72" name="Google Shape;7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80560" y="24460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4"/>
          <p:cNvSpPr/>
          <p:nvPr/>
        </p:nvSpPr>
        <p:spPr>
          <a:xfrm>
            <a:off x="3520440" y="3200400"/>
            <a:ext cx="2331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5F5FA"/>
                </a:solidFill>
                <a:latin typeface="Cambria"/>
                <a:ea typeface="Cambria"/>
                <a:cs typeface="Cambria"/>
                <a:sym typeface="Cambria"/>
              </a:rPr>
              <a:t>Transcribe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3566160" y="3657600"/>
            <a:ext cx="224028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Se muestra en pantalla lo que el sistema escuchó, en texto, de forma inmediata.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5943600" y="370332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6217920" y="1965960"/>
            <a:ext cx="2606040" cy="4023360"/>
          </a:xfrm>
          <a:prstGeom prst="roundRect">
            <a:avLst>
              <a:gd fmla="val 4912" name="adj"/>
            </a:avLst>
          </a:prstGeom>
          <a:solidFill>
            <a:srgbClr val="1B1D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7109460" y="2240280"/>
            <a:ext cx="822960" cy="822960"/>
          </a:xfrm>
          <a:prstGeom prst="ellipse">
            <a:avLst/>
          </a:prstGeom>
          <a:solidFill>
            <a:srgbClr val="3FE0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_brain.png" id="78" name="Google Shape;7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15200" y="24460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4"/>
          <p:cNvSpPr/>
          <p:nvPr/>
        </p:nvSpPr>
        <p:spPr>
          <a:xfrm>
            <a:off x="6355080" y="3200400"/>
            <a:ext cx="2331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5F5FA"/>
                </a:solidFill>
                <a:latin typeface="Cambria"/>
                <a:ea typeface="Cambria"/>
                <a:cs typeface="Cambria"/>
                <a:sym typeface="Cambria"/>
              </a:rPr>
              <a:t>Analiza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6400800" y="3657600"/>
            <a:ext cx="224028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Mide duración, palabras inventadas y trabas al hablar; interpreta el contenido del pitch.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8778240" y="370332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9052560" y="1965960"/>
            <a:ext cx="2606040" cy="4023360"/>
          </a:xfrm>
          <a:prstGeom prst="roundRect">
            <a:avLst>
              <a:gd fmla="val 4912" name="adj"/>
            </a:avLst>
          </a:prstGeom>
          <a:solidFill>
            <a:srgbClr val="1B1D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9944100" y="2240280"/>
            <a:ext cx="822960" cy="822960"/>
          </a:xfrm>
          <a:prstGeom prst="ellipse">
            <a:avLst/>
          </a:prstGeom>
          <a:solidFill>
            <a:srgbClr val="8B7C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_check.png" id="84" name="Google Shape;84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149840" y="24460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4"/>
          <p:cNvSpPr/>
          <p:nvPr/>
        </p:nvSpPr>
        <p:spPr>
          <a:xfrm>
            <a:off x="9189720" y="3200400"/>
            <a:ext cx="2331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5F5FA"/>
                </a:solidFill>
                <a:latin typeface="Cambria"/>
                <a:ea typeface="Cambria"/>
                <a:cs typeface="Cambria"/>
                <a:sym typeface="Cambria"/>
              </a:rPr>
              <a:t>Mejora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9235440" y="3657600"/>
            <a:ext cx="224028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Sugiere un resumen y vocabulario más claro o profesional para pulir el discurso.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12B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"/>
          <p:cNvSpPr/>
          <p:nvPr/>
        </p:nvSpPr>
        <p:spPr>
          <a:xfrm>
            <a:off x="548646" y="713225"/>
            <a:ext cx="53949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5F5FA"/>
                </a:solidFill>
                <a:latin typeface="Cambria"/>
                <a:ea typeface="Cambria"/>
                <a:cs typeface="Cambria"/>
                <a:sym typeface="Cambria"/>
              </a:rPr>
              <a:t>Roles del sistema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548650" y="1444750"/>
            <a:ext cx="5394900" cy="5245800"/>
          </a:xfrm>
          <a:prstGeom prst="roundRect">
            <a:avLst>
              <a:gd fmla="val 2887" name="adj"/>
            </a:avLst>
          </a:prstGeom>
          <a:solidFill>
            <a:srgbClr val="1B1D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834525" y="1737349"/>
            <a:ext cx="777300" cy="731400"/>
          </a:xfrm>
          <a:prstGeom prst="ellipse">
            <a:avLst/>
          </a:prstGeom>
          <a:solidFill>
            <a:srgbClr val="8B7C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_userShield.png" id="95" name="Google Shape;9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833" y="1931650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5"/>
          <p:cNvSpPr/>
          <p:nvPr/>
        </p:nvSpPr>
        <p:spPr>
          <a:xfrm>
            <a:off x="1725975" y="1897395"/>
            <a:ext cx="393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F5F5FA"/>
                </a:solidFill>
                <a:latin typeface="Cambria"/>
                <a:ea typeface="Cambria"/>
                <a:cs typeface="Cambria"/>
                <a:sym typeface="Cambria"/>
              </a:rPr>
              <a:t>Administrador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 txBox="1"/>
          <p:nvPr/>
        </p:nvSpPr>
        <p:spPr>
          <a:xfrm>
            <a:off x="914350" y="2676620"/>
            <a:ext cx="4663500" cy="1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Responsable de la seguridad y privacidad de los audios de los usuarios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A7ABD1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Mejora continua de la asistencia por voz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A7ABD1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Vela por respuestas rápidas y entendibles para el usuario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6477800" y="1529974"/>
            <a:ext cx="5394900" cy="1056300"/>
          </a:xfrm>
          <a:prstGeom prst="roundRect">
            <a:avLst>
              <a:gd fmla="val 2887" name="adj"/>
            </a:avLst>
          </a:prstGeom>
          <a:solidFill>
            <a:srgbClr val="1B1D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lt1"/>
                </a:solidFill>
              </a:rPr>
              <a:t>Diseño</a:t>
            </a:r>
            <a:endParaRPr b="1" sz="1500">
              <a:solidFill>
                <a:schemeClr val="lt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A7ABD1"/>
              </a:buClr>
              <a:buSzPts val="1500"/>
              <a:buChar char="●"/>
            </a:pPr>
            <a:r>
              <a:rPr lang="en-US" sz="1500">
                <a:solidFill>
                  <a:srgbClr val="A7ABD1"/>
                </a:solidFill>
              </a:rPr>
              <a:t>Definición de funcionalidades</a:t>
            </a:r>
            <a:endParaRPr sz="1500">
              <a:solidFill>
                <a:srgbClr val="A7ABD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500"/>
              <a:buChar char="●"/>
            </a:pPr>
            <a:r>
              <a:rPr lang="en-US" sz="1500">
                <a:solidFill>
                  <a:srgbClr val="A7ABD1"/>
                </a:solidFill>
              </a:rPr>
              <a:t>Diseño de interfaz y flujo</a:t>
            </a:r>
            <a:endParaRPr sz="1500">
              <a:solidFill>
                <a:srgbClr val="A7ABD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914350" y="4242299"/>
            <a:ext cx="697500" cy="697500"/>
          </a:xfrm>
          <a:prstGeom prst="ellipse">
            <a:avLst/>
          </a:prstGeom>
          <a:solidFill>
            <a:srgbClr val="3FE0D0"/>
          </a:solidFill>
          <a:ln>
            <a:noFill/>
          </a:ln>
        </p:spPr>
        <p:txBody>
          <a:bodyPr anchorCtr="0" anchor="ctr" bIns="82025" lIns="82025" spcFirstLastPara="1" rIns="82025" wrap="square" tIns="82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_user.png" id="100" name="Google Shape;10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8706" y="4416654"/>
            <a:ext cx="348711" cy="34871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5"/>
          <p:cNvSpPr/>
          <p:nvPr/>
        </p:nvSpPr>
        <p:spPr>
          <a:xfrm>
            <a:off x="1805893" y="4310870"/>
            <a:ext cx="393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F5F5FA"/>
                </a:solidFill>
                <a:latin typeface="Cambria"/>
                <a:ea typeface="Cambria"/>
                <a:cs typeface="Cambria"/>
                <a:sym typeface="Cambria"/>
              </a:rPr>
              <a:t>Usuario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 txBox="1"/>
          <p:nvPr/>
        </p:nvSpPr>
        <p:spPr>
          <a:xfrm>
            <a:off x="914350" y="5181570"/>
            <a:ext cx="4663500" cy="15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Interfaz simple con botón "Comenzar pitch"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A7ABD1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El sistema solicita acceso a micrófono y cámara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A7ABD1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Escucha y transcribe el pitch en tiempo real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A7ABD1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Recibe el análisis y las sugerencias de mejora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6288521" y="713225"/>
            <a:ext cx="53949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F5F5FA"/>
                </a:solidFill>
                <a:latin typeface="Cambria"/>
                <a:ea typeface="Cambria"/>
                <a:cs typeface="Cambria"/>
                <a:sym typeface="Cambria"/>
              </a:rPr>
              <a:t>Metodologia / Plan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6477800" y="2887386"/>
            <a:ext cx="5394900" cy="1178100"/>
          </a:xfrm>
          <a:prstGeom prst="roundRect">
            <a:avLst>
              <a:gd fmla="val 2887" name="adj"/>
            </a:avLst>
          </a:prstGeom>
          <a:solidFill>
            <a:srgbClr val="1B1D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Desarrollo</a:t>
            </a:r>
            <a:endParaRPr b="1"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A7ABD1"/>
              </a:buClr>
              <a:buSzPts val="1400"/>
              <a:buChar char="●"/>
            </a:pPr>
            <a:r>
              <a:rPr lang="en-US">
                <a:solidFill>
                  <a:srgbClr val="A7ABD1"/>
                </a:solidFill>
              </a:rPr>
              <a:t>HTML / CSS / JavaScript</a:t>
            </a:r>
            <a:endParaRPr>
              <a:solidFill>
                <a:srgbClr val="A7ABD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400"/>
              <a:buChar char="●"/>
            </a:pPr>
            <a:r>
              <a:rPr lang="en-US">
                <a:solidFill>
                  <a:srgbClr val="A7ABD1"/>
                </a:solidFill>
              </a:rPr>
              <a:t>Reconocimiento de voz</a:t>
            </a:r>
            <a:endParaRPr>
              <a:solidFill>
                <a:srgbClr val="A7ABD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400"/>
              <a:buChar char="●"/>
            </a:pPr>
            <a:r>
              <a:rPr lang="en-US">
                <a:solidFill>
                  <a:srgbClr val="A7ABD1"/>
                </a:solidFill>
              </a:rPr>
              <a:t>Transcripción del pitch</a:t>
            </a:r>
            <a:endParaRPr>
              <a:solidFill>
                <a:srgbClr val="A7ABD1"/>
              </a:solidFill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6477800" y="4373336"/>
            <a:ext cx="5394900" cy="1178100"/>
          </a:xfrm>
          <a:prstGeom prst="roundRect">
            <a:avLst>
              <a:gd fmla="val 2887" name="adj"/>
            </a:avLst>
          </a:prstGeom>
          <a:solidFill>
            <a:srgbClr val="1B1D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Análisis y pruebas</a:t>
            </a:r>
            <a:endParaRPr b="1"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A7ABD1"/>
              </a:buClr>
              <a:buSzPts val="1400"/>
              <a:buChar char="●"/>
            </a:pPr>
            <a:r>
              <a:rPr lang="en-US">
                <a:solidFill>
                  <a:srgbClr val="A7ABD1"/>
                </a:solidFill>
              </a:rPr>
              <a:t>Detección de repeticiones</a:t>
            </a:r>
            <a:endParaRPr>
              <a:solidFill>
                <a:srgbClr val="A7ABD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400"/>
              <a:buChar char="●"/>
            </a:pPr>
            <a:r>
              <a:rPr lang="en-US">
                <a:solidFill>
                  <a:srgbClr val="A7ABD1"/>
                </a:solidFill>
              </a:rPr>
              <a:t>Palabras de relleno</a:t>
            </a:r>
            <a:endParaRPr>
              <a:solidFill>
                <a:srgbClr val="A7ABD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400"/>
              <a:buChar char="●"/>
            </a:pPr>
            <a:r>
              <a:rPr lang="en-US">
                <a:solidFill>
                  <a:srgbClr val="A7ABD1"/>
                </a:solidFill>
              </a:rPr>
              <a:t>Pruebas de funcionamiento</a:t>
            </a:r>
            <a:endParaRPr>
              <a:solidFill>
                <a:srgbClr val="A7ABD1"/>
              </a:solidFill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6477800" y="5737336"/>
            <a:ext cx="5394900" cy="1056300"/>
          </a:xfrm>
          <a:prstGeom prst="roundRect">
            <a:avLst>
              <a:gd fmla="val 2887" name="adj"/>
            </a:avLst>
          </a:prstGeom>
          <a:solidFill>
            <a:srgbClr val="1B1D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lt1"/>
                </a:solidFill>
              </a:rPr>
              <a:t>Evolución</a:t>
            </a:r>
            <a:endParaRPr b="1" sz="1300">
              <a:solidFill>
                <a:schemeClr val="lt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A7ABD1"/>
              </a:buClr>
              <a:buSzPts val="1300"/>
              <a:buChar char="●"/>
            </a:pPr>
            <a:r>
              <a:rPr lang="en-US" sz="1300">
                <a:solidFill>
                  <a:srgbClr val="A7ABD1"/>
                </a:solidFill>
              </a:rPr>
              <a:t>IA para análisis avanzado</a:t>
            </a:r>
            <a:endParaRPr sz="1300">
              <a:solidFill>
                <a:srgbClr val="A7ABD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300"/>
              <a:buChar char="●"/>
            </a:pPr>
            <a:r>
              <a:rPr lang="en-US" sz="1300">
                <a:solidFill>
                  <a:srgbClr val="A7ABD1"/>
                </a:solidFill>
              </a:rPr>
              <a:t>Base de datos y usuarios</a:t>
            </a:r>
            <a:endParaRPr sz="1300">
              <a:solidFill>
                <a:srgbClr val="A7ABD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300"/>
              <a:buChar char="●"/>
            </a:pPr>
            <a:r>
              <a:rPr lang="en-US" sz="1300">
                <a:solidFill>
                  <a:srgbClr val="A7ABD1"/>
                </a:solidFill>
              </a:rPr>
              <a:t>Análisis mediante cámara</a:t>
            </a:r>
            <a:endParaRPr sz="1300">
              <a:solidFill>
                <a:srgbClr val="A7ABD1"/>
              </a:solidFill>
            </a:endParaRPr>
          </a:p>
        </p:txBody>
      </p:sp>
      <p:sp>
        <p:nvSpPr>
          <p:cNvPr id="107" name="Google Shape;107;p5"/>
          <p:cNvSpPr/>
          <p:nvPr/>
        </p:nvSpPr>
        <p:spPr>
          <a:xfrm rot="5400000">
            <a:off x="8992410" y="2439869"/>
            <a:ext cx="365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 rot="5400000">
            <a:off x="8992410" y="3957772"/>
            <a:ext cx="365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 rot="5400000">
            <a:off x="8992410" y="5432360"/>
            <a:ext cx="365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12B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/>
          <p:nvPr/>
        </p:nvSpPr>
        <p:spPr>
          <a:xfrm>
            <a:off x="548640" y="713232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5F5FA"/>
                </a:solidFill>
                <a:latin typeface="Cambria"/>
                <a:ea typeface="Cambria"/>
                <a:cs typeface="Cambria"/>
                <a:sym typeface="Cambria"/>
              </a:rPr>
              <a:t>Arquitectura y flujo del sistema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p6"/>
          <p:cNvCxnSpPr/>
          <p:nvPr/>
        </p:nvCxnSpPr>
        <p:spPr>
          <a:xfrm>
            <a:off x="1165860" y="3017520"/>
            <a:ext cx="9829800" cy="0"/>
          </a:xfrm>
          <a:prstGeom prst="straightConnector1">
            <a:avLst/>
          </a:prstGeom>
          <a:noFill/>
          <a:ln cap="flat" cmpd="sng" w="38100">
            <a:solidFill>
              <a:srgbClr val="24275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" name="Google Shape;117;p6"/>
          <p:cNvSpPr/>
          <p:nvPr/>
        </p:nvSpPr>
        <p:spPr>
          <a:xfrm>
            <a:off x="640080" y="2491740"/>
            <a:ext cx="1051560" cy="1051560"/>
          </a:xfrm>
          <a:prstGeom prst="ellipse">
            <a:avLst/>
          </a:prstGeom>
          <a:solidFill>
            <a:srgbClr val="3FE0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_comments.png" id="118" name="Google Shape;11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3486" y="2765146"/>
            <a:ext cx="504749" cy="504749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6"/>
          <p:cNvSpPr/>
          <p:nvPr/>
        </p:nvSpPr>
        <p:spPr>
          <a:xfrm>
            <a:off x="342900" y="3680460"/>
            <a:ext cx="1645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5F5FA"/>
                </a:solidFill>
                <a:latin typeface="Calibri"/>
                <a:ea typeface="Calibri"/>
                <a:cs typeface="Calibri"/>
                <a:sym typeface="Calibri"/>
              </a:rPr>
              <a:t>Interfaz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2044337" y="2491740"/>
            <a:ext cx="1051560" cy="1051560"/>
          </a:xfrm>
          <a:prstGeom prst="ellipse">
            <a:avLst/>
          </a:prstGeom>
          <a:solidFill>
            <a:srgbClr val="8B7C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_mic.png" id="121" name="Google Shape;12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17743" y="2765146"/>
            <a:ext cx="504749" cy="504749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6"/>
          <p:cNvSpPr/>
          <p:nvPr/>
        </p:nvSpPr>
        <p:spPr>
          <a:xfrm>
            <a:off x="1747157" y="3680460"/>
            <a:ext cx="1645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5F5FA"/>
                </a:solidFill>
                <a:latin typeface="Calibri"/>
                <a:ea typeface="Calibri"/>
                <a:cs typeface="Calibri"/>
                <a:sym typeface="Calibri"/>
              </a:rPr>
              <a:t>Micrófono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3448594" y="2491740"/>
            <a:ext cx="1051560" cy="1051560"/>
          </a:xfrm>
          <a:prstGeom prst="ellipse">
            <a:avLst/>
          </a:prstGeom>
          <a:solidFill>
            <a:srgbClr val="3FE0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_waveform.png" id="124" name="Google Shape;12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22000" y="2765146"/>
            <a:ext cx="504749" cy="504749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6"/>
          <p:cNvSpPr/>
          <p:nvPr/>
        </p:nvSpPr>
        <p:spPr>
          <a:xfrm>
            <a:off x="3151414" y="3680460"/>
            <a:ext cx="1645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5F5FA"/>
                </a:solidFill>
                <a:latin typeface="Calibri"/>
                <a:ea typeface="Calibri"/>
                <a:cs typeface="Calibri"/>
                <a:sym typeface="Calibri"/>
              </a:rPr>
              <a:t>Reconoc. de voz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4852851" y="2491740"/>
            <a:ext cx="1051560" cy="1051560"/>
          </a:xfrm>
          <a:prstGeom prst="ellipse">
            <a:avLst/>
          </a:prstGeom>
          <a:solidFill>
            <a:srgbClr val="8B7C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_brain.png" id="127" name="Google Shape;127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26257" y="2765146"/>
            <a:ext cx="504749" cy="504749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6"/>
          <p:cNvSpPr/>
          <p:nvPr/>
        </p:nvSpPr>
        <p:spPr>
          <a:xfrm>
            <a:off x="4555671" y="3680460"/>
            <a:ext cx="1645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5F5FA"/>
                </a:solidFill>
                <a:latin typeface="Calibri"/>
                <a:ea typeface="Calibri"/>
                <a:cs typeface="Calibri"/>
                <a:sym typeface="Calibri"/>
              </a:rPr>
              <a:t>Interpretación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6257109" y="2491740"/>
            <a:ext cx="1051560" cy="1051560"/>
          </a:xfrm>
          <a:prstGeom prst="ellipse">
            <a:avLst/>
          </a:prstGeom>
          <a:solidFill>
            <a:srgbClr val="3FE0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_cpu.png" id="130" name="Google Shape;130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30514" y="2765146"/>
            <a:ext cx="504749" cy="504749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6"/>
          <p:cNvSpPr/>
          <p:nvPr/>
        </p:nvSpPr>
        <p:spPr>
          <a:xfrm>
            <a:off x="5959929" y="3680460"/>
            <a:ext cx="1645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5F5FA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7661366" y="2491740"/>
            <a:ext cx="1051560" cy="1051560"/>
          </a:xfrm>
          <a:prstGeom prst="ellipse">
            <a:avLst/>
          </a:prstGeom>
          <a:solidFill>
            <a:srgbClr val="8B7C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_database.png" id="133" name="Google Shape;133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934771" y="2765146"/>
            <a:ext cx="504749" cy="50474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6"/>
          <p:cNvSpPr/>
          <p:nvPr/>
        </p:nvSpPr>
        <p:spPr>
          <a:xfrm>
            <a:off x="7364186" y="3680460"/>
            <a:ext cx="1645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5F5FA"/>
                </a:solidFill>
                <a:latin typeface="Calibri"/>
                <a:ea typeface="Calibri"/>
                <a:cs typeface="Calibri"/>
                <a:sym typeface="Calibri"/>
              </a:rPr>
              <a:t>Base de datos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9065623" y="2491740"/>
            <a:ext cx="1051560" cy="1051560"/>
          </a:xfrm>
          <a:prstGeom prst="ellipse">
            <a:avLst/>
          </a:prstGeom>
          <a:solidFill>
            <a:srgbClr val="3FE0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_chart.png" id="136" name="Google Shape;136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339028" y="2765146"/>
            <a:ext cx="504749" cy="504749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6"/>
          <p:cNvSpPr/>
          <p:nvPr/>
        </p:nvSpPr>
        <p:spPr>
          <a:xfrm>
            <a:off x="8768443" y="3680460"/>
            <a:ext cx="1645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5F5FA"/>
                </a:solidFill>
                <a:latin typeface="Calibri"/>
                <a:ea typeface="Calibri"/>
                <a:cs typeface="Calibri"/>
                <a:sym typeface="Calibri"/>
              </a:rPr>
              <a:t>Análisis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10469880" y="2491740"/>
            <a:ext cx="1051560" cy="1051560"/>
          </a:xfrm>
          <a:prstGeom prst="ellipse">
            <a:avLst/>
          </a:prstGeom>
          <a:solidFill>
            <a:srgbClr val="8B7C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_check.png" id="139" name="Google Shape;139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743286" y="2765146"/>
            <a:ext cx="504749" cy="50474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6"/>
          <p:cNvSpPr/>
          <p:nvPr/>
        </p:nvSpPr>
        <p:spPr>
          <a:xfrm>
            <a:off x="10172700" y="3680460"/>
            <a:ext cx="1645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5F5FA"/>
                </a:solidFill>
                <a:latin typeface="Calibri"/>
                <a:ea typeface="Calibri"/>
                <a:cs typeface="Calibri"/>
                <a:sym typeface="Calibri"/>
              </a:rPr>
              <a:t>Respuesta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1097280" y="4937760"/>
            <a:ext cx="99669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El sistema captura el audio desde la interfaz, lo reconoce y lo interpreta, procesa la información en el backend y la base de datos, la analiza y devuelve una respuesta que genera una reacción de mejora en el usuario.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12B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"/>
          <p:cNvSpPr/>
          <p:nvPr/>
        </p:nvSpPr>
        <p:spPr>
          <a:xfrm>
            <a:off x="548640" y="713232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5F5FA"/>
                </a:solidFill>
                <a:latin typeface="Cambria"/>
                <a:ea typeface="Cambria"/>
                <a:cs typeface="Cambria"/>
                <a:sym typeface="Cambria"/>
              </a:rPr>
              <a:t>Capacidades y resguardos del proyecto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548640" y="1783080"/>
            <a:ext cx="3611880" cy="4434840"/>
          </a:xfrm>
          <a:prstGeom prst="roundRect">
            <a:avLst>
              <a:gd fmla="val 3544" name="adj"/>
            </a:avLst>
          </a:prstGeom>
          <a:solidFill>
            <a:srgbClr val="1B1D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845820" y="2034540"/>
            <a:ext cx="777240" cy="777240"/>
          </a:xfrm>
          <a:prstGeom prst="ellipse">
            <a:avLst/>
          </a:prstGeom>
          <a:solidFill>
            <a:srgbClr val="3FE0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_bullseye.png" id="150" name="Google Shape;15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0130" y="2228850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7"/>
          <p:cNvSpPr/>
          <p:nvPr/>
        </p:nvSpPr>
        <p:spPr>
          <a:xfrm>
            <a:off x="822960" y="2926080"/>
            <a:ext cx="3063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5F5FA"/>
                </a:solidFill>
                <a:latin typeface="Cambria"/>
                <a:ea typeface="Cambria"/>
                <a:cs typeface="Cambria"/>
                <a:sym typeface="Cambria"/>
              </a:rPr>
              <a:t>Competencias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 txBox="1"/>
          <p:nvPr/>
        </p:nvSpPr>
        <p:spPr>
          <a:xfrm>
            <a:off x="822960" y="3474720"/>
            <a:ext cx="306324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250"/>
              <a:buFont typeface="Calibri"/>
              <a:buChar char="●"/>
            </a:pPr>
            <a:r>
              <a:rPr b="0" i="0" lang="en-US" sz="125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Desarrollo autónomo del proyecto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A7ABD1"/>
              </a:buClr>
              <a:buSzPts val="1250"/>
              <a:buFont typeface="Calibri"/>
              <a:buChar char="●"/>
            </a:pPr>
            <a:r>
              <a:rPr b="0" i="0" lang="en-US" sz="125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Procesamiento de voz e IA aplicada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A7ABD1"/>
              </a:buClr>
              <a:buSzPts val="1250"/>
              <a:buFont typeface="Calibri"/>
              <a:buChar char="●"/>
            </a:pPr>
            <a:r>
              <a:rPr b="0" i="0" lang="en-US" sz="125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Diseño de producto centrado en el usuario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4343400" y="1783080"/>
            <a:ext cx="3611880" cy="4434840"/>
          </a:xfrm>
          <a:prstGeom prst="roundRect">
            <a:avLst>
              <a:gd fmla="val 3544" name="adj"/>
            </a:avLst>
          </a:prstGeom>
          <a:solidFill>
            <a:srgbClr val="1B1D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4640580" y="2034540"/>
            <a:ext cx="777240" cy="777240"/>
          </a:xfrm>
          <a:prstGeom prst="ellipse">
            <a:avLst/>
          </a:prstGeom>
          <a:solidFill>
            <a:srgbClr val="F0A8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_warning.png" id="155" name="Google Shape;15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34890" y="2228850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7"/>
          <p:cNvSpPr/>
          <p:nvPr/>
        </p:nvSpPr>
        <p:spPr>
          <a:xfrm>
            <a:off x="4617720" y="2926080"/>
            <a:ext cx="3063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5F5FA"/>
                </a:solidFill>
                <a:latin typeface="Cambria"/>
                <a:ea typeface="Cambria"/>
                <a:cs typeface="Cambria"/>
                <a:sym typeface="Cambria"/>
              </a:rPr>
              <a:t>Riesgos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 txBox="1"/>
          <p:nvPr/>
        </p:nvSpPr>
        <p:spPr>
          <a:xfrm>
            <a:off x="4617720" y="3474720"/>
            <a:ext cx="306324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250"/>
              <a:buFont typeface="Calibri"/>
              <a:buChar char="●"/>
            </a:pPr>
            <a:r>
              <a:rPr b="0" i="0" lang="en-US" sz="125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Privacidad de los audios grabados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A7ABD1"/>
              </a:buClr>
              <a:buSzPts val="1250"/>
              <a:buFont typeface="Calibri"/>
              <a:buChar char="●"/>
            </a:pPr>
            <a:r>
              <a:rPr b="0" i="0" lang="en-US" sz="125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Precisión del reconocimiento de voz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A7ABD1"/>
              </a:buClr>
              <a:buSzPts val="1250"/>
              <a:buFont typeface="Calibri"/>
              <a:buChar char="●"/>
            </a:pPr>
            <a:r>
              <a:rPr b="0" i="0" lang="en-US" sz="125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Dependencia de conexión/hardware (mic y cámara)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8138160" y="1783080"/>
            <a:ext cx="3611880" cy="4434840"/>
          </a:xfrm>
          <a:prstGeom prst="roundRect">
            <a:avLst>
              <a:gd fmla="val 3544" name="adj"/>
            </a:avLst>
          </a:prstGeom>
          <a:solidFill>
            <a:srgbClr val="1B1D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8435340" y="2034540"/>
            <a:ext cx="777240" cy="777240"/>
          </a:xfrm>
          <a:prstGeom prst="ellipse">
            <a:avLst/>
          </a:prstGeom>
          <a:solidFill>
            <a:srgbClr val="8B7C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_lock.png" id="160" name="Google Shape;16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29650" y="2228850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7"/>
          <p:cNvSpPr/>
          <p:nvPr/>
        </p:nvSpPr>
        <p:spPr>
          <a:xfrm>
            <a:off x="8412480" y="2926080"/>
            <a:ext cx="3063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5F5FA"/>
                </a:solidFill>
                <a:latin typeface="Cambria"/>
                <a:ea typeface="Cambria"/>
                <a:cs typeface="Cambria"/>
                <a:sym typeface="Cambria"/>
              </a:rPr>
              <a:t>Seguridad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 txBox="1"/>
          <p:nvPr/>
        </p:nvSpPr>
        <p:spPr>
          <a:xfrm>
            <a:off x="8412480" y="3474720"/>
            <a:ext cx="306324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250"/>
              <a:buFont typeface="Calibri"/>
              <a:buChar char="●"/>
            </a:pPr>
            <a:r>
              <a:rPr b="0" i="0" lang="en-US" sz="125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Cifrado y resguardo de audios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A7ABD1"/>
              </a:buClr>
              <a:buSzPts val="1250"/>
              <a:buFont typeface="Calibri"/>
              <a:buChar char="●"/>
            </a:pPr>
            <a:r>
              <a:rPr b="0" i="0" lang="en-US" sz="125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Acceso restringido, a cargo del Administrador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A7ABD1"/>
              </a:buClr>
              <a:buSzPts val="1250"/>
              <a:buFont typeface="Calibri"/>
              <a:buChar char="●"/>
            </a:pPr>
            <a:r>
              <a:rPr b="0" i="0" lang="en-US" sz="125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Políticas claras de retención y borrado de datos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12B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"/>
          <p:cNvSpPr/>
          <p:nvPr/>
        </p:nvSpPr>
        <p:spPr>
          <a:xfrm>
            <a:off x="548640" y="713232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5F5FA"/>
                </a:solidFill>
                <a:latin typeface="Cambria"/>
                <a:ea typeface="Cambria"/>
                <a:cs typeface="Cambria"/>
                <a:sym typeface="Cambria"/>
              </a:rPr>
              <a:t>Cómo se sostiene el proyecto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548640" y="1828800"/>
            <a:ext cx="3611880" cy="4114800"/>
          </a:xfrm>
          <a:prstGeom prst="roundRect">
            <a:avLst>
              <a:gd fmla="val 3544" name="adj"/>
            </a:avLst>
          </a:prstGeom>
          <a:solidFill>
            <a:srgbClr val="1B1D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1920240" y="2171700"/>
            <a:ext cx="868680" cy="868680"/>
          </a:xfrm>
          <a:prstGeom prst="ellipse">
            <a:avLst/>
          </a:prstGeom>
          <a:solidFill>
            <a:srgbClr val="8B7C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_play.png" id="171" name="Google Shape;17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7410" y="2388870"/>
            <a:ext cx="434340" cy="43434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8"/>
          <p:cNvSpPr/>
          <p:nvPr/>
        </p:nvSpPr>
        <p:spPr>
          <a:xfrm>
            <a:off x="777240" y="3246120"/>
            <a:ext cx="3154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5F5FA"/>
                </a:solidFill>
                <a:latin typeface="Cambria"/>
                <a:ea typeface="Cambria"/>
                <a:cs typeface="Cambria"/>
                <a:sym typeface="Cambria"/>
              </a:rPr>
              <a:t>Freemium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822960" y="3840480"/>
            <a:ext cx="306324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Versión gratuita con funciones básicas: grabar, transcribir y recibir feedback simple del pitch.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4343400" y="1828800"/>
            <a:ext cx="3611880" cy="4114800"/>
          </a:xfrm>
          <a:prstGeom prst="roundRect">
            <a:avLst>
              <a:gd fmla="val 3544" name="adj"/>
            </a:avLst>
          </a:prstGeom>
          <a:solidFill>
            <a:srgbClr val="1B1D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5715000" y="2171700"/>
            <a:ext cx="868680" cy="868680"/>
          </a:xfrm>
          <a:prstGeom prst="ellipse">
            <a:avLst/>
          </a:prstGeom>
          <a:solidFill>
            <a:srgbClr val="3FE0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_dollar.png" id="176" name="Google Shape;17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32170" y="2388870"/>
            <a:ext cx="434340" cy="43434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8"/>
          <p:cNvSpPr/>
          <p:nvPr/>
        </p:nvSpPr>
        <p:spPr>
          <a:xfrm>
            <a:off x="4572000" y="3246120"/>
            <a:ext cx="3154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5F5FA"/>
                </a:solidFill>
                <a:latin typeface="Cambria"/>
                <a:ea typeface="Cambria"/>
                <a:cs typeface="Cambria"/>
                <a:sym typeface="Cambria"/>
              </a:rPr>
              <a:t>Suscripción Premium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4617720" y="3840480"/>
            <a:ext cx="306324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Funciones avanzadas: historial de progreso, reportes detallados y simulacros con roles específicos.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8138160" y="1828800"/>
            <a:ext cx="3611880" cy="4114800"/>
          </a:xfrm>
          <a:prstGeom prst="roundRect">
            <a:avLst>
              <a:gd fmla="val 3544" name="adj"/>
            </a:avLst>
          </a:prstGeom>
          <a:solidFill>
            <a:srgbClr val="1B1D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9509760" y="2171700"/>
            <a:ext cx="868680" cy="868680"/>
          </a:xfrm>
          <a:prstGeom prst="ellipse">
            <a:avLst/>
          </a:prstGeom>
          <a:solidFill>
            <a:srgbClr val="8B7C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_university.png" id="181" name="Google Shape;18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26930" y="2388870"/>
            <a:ext cx="434340" cy="43434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8"/>
          <p:cNvSpPr/>
          <p:nvPr/>
        </p:nvSpPr>
        <p:spPr>
          <a:xfrm>
            <a:off x="8366760" y="3246120"/>
            <a:ext cx="3154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5F5FA"/>
                </a:solidFill>
                <a:latin typeface="Cambria"/>
                <a:ea typeface="Cambria"/>
                <a:cs typeface="Cambria"/>
                <a:sym typeface="Cambria"/>
              </a:rPr>
              <a:t>Alianzas B2B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8412480" y="3840480"/>
            <a:ext cx="306324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Licencias para universidades y centros de empleabilidad, como apoyo a sus estudiantes.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12B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"/>
          <p:cNvSpPr/>
          <p:nvPr/>
        </p:nvSpPr>
        <p:spPr>
          <a:xfrm>
            <a:off x="514340" y="553207"/>
            <a:ext cx="96012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5F5FA"/>
                </a:solidFill>
                <a:latin typeface="Cambria"/>
                <a:ea typeface="Cambria"/>
                <a:cs typeface="Cambria"/>
                <a:sym typeface="Cambria"/>
              </a:rPr>
              <a:t>Boceto de interfaz (versión web inicial)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822960" y="1828800"/>
            <a:ext cx="3383280" cy="4114800"/>
          </a:xfrm>
          <a:prstGeom prst="roundRect">
            <a:avLst>
              <a:gd fmla="val 4324" name="adj"/>
            </a:avLst>
          </a:prstGeom>
          <a:solidFill>
            <a:srgbClr val="1B1D42"/>
          </a:solidFill>
          <a:ln cap="flat" cmpd="sng" w="19050">
            <a:solidFill>
              <a:srgbClr val="2427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"/>
          <p:cNvSpPr/>
          <p:nvPr/>
        </p:nvSpPr>
        <p:spPr>
          <a:xfrm>
            <a:off x="960120" y="2011680"/>
            <a:ext cx="3108960" cy="320040"/>
          </a:xfrm>
          <a:prstGeom prst="roundRect">
            <a:avLst>
              <a:gd fmla="val 17143" name="adj"/>
            </a:avLst>
          </a:prstGeom>
          <a:solidFill>
            <a:srgbClr val="2427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1920240" y="3337560"/>
            <a:ext cx="1188720" cy="1188720"/>
          </a:xfrm>
          <a:prstGeom prst="ellipse">
            <a:avLst/>
          </a:prstGeom>
          <a:solidFill>
            <a:srgbClr val="3FE0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_mic.png" id="193" name="Google Shape;19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47138" y="3664458"/>
            <a:ext cx="534924" cy="534924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9"/>
          <p:cNvSpPr/>
          <p:nvPr/>
        </p:nvSpPr>
        <p:spPr>
          <a:xfrm>
            <a:off x="1097280" y="466344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5F5FA"/>
                </a:solidFill>
                <a:latin typeface="Calibri"/>
                <a:ea typeface="Calibri"/>
                <a:cs typeface="Calibri"/>
                <a:sym typeface="Calibri"/>
              </a:rPr>
              <a:t>Comenzar pitch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1005840" y="516636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5F5FA"/>
                </a:solidFill>
                <a:latin typeface="Cambria"/>
                <a:ea typeface="Cambria"/>
                <a:cs typeface="Cambria"/>
                <a:sym typeface="Cambria"/>
              </a:rPr>
              <a:t>Inicio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1005840" y="544068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Pantalla principal con botón "Comenzar pitch"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4526280" y="1828800"/>
            <a:ext cx="3383280" cy="4114800"/>
          </a:xfrm>
          <a:prstGeom prst="roundRect">
            <a:avLst>
              <a:gd fmla="val 4324" name="adj"/>
            </a:avLst>
          </a:prstGeom>
          <a:solidFill>
            <a:srgbClr val="1B1D42"/>
          </a:solidFill>
          <a:ln cap="flat" cmpd="sng" w="19050">
            <a:solidFill>
              <a:srgbClr val="2427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4663440" y="2011680"/>
            <a:ext cx="3108960" cy="320040"/>
          </a:xfrm>
          <a:prstGeom prst="roundRect">
            <a:avLst>
              <a:gd fmla="val 17143" name="adj"/>
            </a:avLst>
          </a:prstGeom>
          <a:solidFill>
            <a:srgbClr val="2427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4800600" y="2606040"/>
            <a:ext cx="2834640" cy="164592"/>
          </a:xfrm>
          <a:prstGeom prst="rect">
            <a:avLst/>
          </a:prstGeom>
          <a:solidFill>
            <a:srgbClr val="2427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"/>
          <p:cNvSpPr/>
          <p:nvPr/>
        </p:nvSpPr>
        <p:spPr>
          <a:xfrm>
            <a:off x="4800600" y="2880360"/>
            <a:ext cx="2468880" cy="164592"/>
          </a:xfrm>
          <a:prstGeom prst="rect">
            <a:avLst/>
          </a:prstGeom>
          <a:solidFill>
            <a:srgbClr val="2427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"/>
          <p:cNvSpPr/>
          <p:nvPr/>
        </p:nvSpPr>
        <p:spPr>
          <a:xfrm>
            <a:off x="4800600" y="3154680"/>
            <a:ext cx="2651760" cy="164592"/>
          </a:xfrm>
          <a:prstGeom prst="rect">
            <a:avLst/>
          </a:prstGeom>
          <a:solidFill>
            <a:srgbClr val="2427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"/>
          <p:cNvSpPr/>
          <p:nvPr/>
        </p:nvSpPr>
        <p:spPr>
          <a:xfrm>
            <a:off x="5806440" y="3886200"/>
            <a:ext cx="822960" cy="822960"/>
          </a:xfrm>
          <a:prstGeom prst="ellipse">
            <a:avLst/>
          </a:prstGeom>
          <a:solidFill>
            <a:srgbClr val="8B7C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_waveform.png" id="203" name="Google Shape;20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12180" y="40919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9"/>
          <p:cNvSpPr/>
          <p:nvPr/>
        </p:nvSpPr>
        <p:spPr>
          <a:xfrm>
            <a:off x="4800600" y="489204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Escuchando…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4709160" y="516636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5F5FA"/>
                </a:solidFill>
                <a:latin typeface="Cambria"/>
                <a:ea typeface="Cambria"/>
                <a:cs typeface="Cambria"/>
                <a:sym typeface="Cambria"/>
              </a:rPr>
              <a:t>En vivo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4709160" y="544068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Transcripción en tiempo real de lo hablado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8229575" y="1828800"/>
            <a:ext cx="3383400" cy="4114800"/>
          </a:xfrm>
          <a:prstGeom prst="roundRect">
            <a:avLst>
              <a:gd fmla="val 4324" name="adj"/>
            </a:avLst>
          </a:prstGeom>
          <a:solidFill>
            <a:srgbClr val="1B1D42"/>
          </a:solidFill>
          <a:ln cap="flat" cmpd="sng" w="19050">
            <a:solidFill>
              <a:srgbClr val="2427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8366760" y="2011680"/>
            <a:ext cx="3108960" cy="320040"/>
          </a:xfrm>
          <a:prstGeom prst="roundRect">
            <a:avLst>
              <a:gd fmla="val 17143" name="adj"/>
            </a:avLst>
          </a:prstGeom>
          <a:solidFill>
            <a:srgbClr val="2427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9532620" y="2800890"/>
            <a:ext cx="777300" cy="777300"/>
          </a:xfrm>
          <a:prstGeom prst="ellipse">
            <a:avLst/>
          </a:prstGeom>
          <a:solidFill>
            <a:srgbClr val="3FE0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_chart.png" id="210" name="Google Shape;210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26930" y="2995200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9"/>
          <p:cNvSpPr/>
          <p:nvPr/>
        </p:nvSpPr>
        <p:spPr>
          <a:xfrm>
            <a:off x="8503920" y="4047360"/>
            <a:ext cx="2834700" cy="146400"/>
          </a:xfrm>
          <a:prstGeom prst="rect">
            <a:avLst/>
          </a:prstGeom>
          <a:solidFill>
            <a:srgbClr val="2427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"/>
          <p:cNvSpPr/>
          <p:nvPr/>
        </p:nvSpPr>
        <p:spPr>
          <a:xfrm>
            <a:off x="8503920" y="4281673"/>
            <a:ext cx="2377500" cy="146400"/>
          </a:xfrm>
          <a:prstGeom prst="rect">
            <a:avLst/>
          </a:prstGeom>
          <a:solidFill>
            <a:srgbClr val="2427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"/>
          <p:cNvSpPr/>
          <p:nvPr/>
        </p:nvSpPr>
        <p:spPr>
          <a:xfrm>
            <a:off x="8503920" y="4480560"/>
            <a:ext cx="2560200" cy="146400"/>
          </a:xfrm>
          <a:prstGeom prst="rect">
            <a:avLst/>
          </a:prstGeom>
          <a:solidFill>
            <a:srgbClr val="2427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"/>
          <p:cNvSpPr/>
          <p:nvPr/>
        </p:nvSpPr>
        <p:spPr>
          <a:xfrm>
            <a:off x="8412480" y="516636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5F5FA"/>
                </a:solidFill>
                <a:latin typeface="Cambria"/>
                <a:ea typeface="Cambria"/>
                <a:cs typeface="Cambria"/>
                <a:sym typeface="Cambria"/>
              </a:rPr>
              <a:t>Resultado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8412480" y="544068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Análisis, métricas y sugerencias de mejora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12B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1B1D42">
              <a:alpha val="5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"/>
          <p:cNvSpPr/>
          <p:nvPr/>
        </p:nvSpPr>
        <p:spPr>
          <a:xfrm>
            <a:off x="9601200" y="-1828800"/>
            <a:ext cx="4572000" cy="4572000"/>
          </a:xfrm>
          <a:prstGeom prst="ellipse">
            <a:avLst/>
          </a:prstGeom>
          <a:solidFill>
            <a:srgbClr val="8B7CFA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"/>
          <p:cNvSpPr/>
          <p:nvPr/>
        </p:nvSpPr>
        <p:spPr>
          <a:xfrm>
            <a:off x="5623560" y="960120"/>
            <a:ext cx="914400" cy="914400"/>
          </a:xfrm>
          <a:prstGeom prst="ellipse">
            <a:avLst/>
          </a:prstGeom>
          <a:solidFill>
            <a:srgbClr val="3FE0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_lightbulb.png" id="224" name="Google Shape;22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2160" y="11887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0"/>
          <p:cNvSpPr/>
          <p:nvPr/>
        </p:nvSpPr>
        <p:spPr>
          <a:xfrm>
            <a:off x="548640" y="205740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5F5FA"/>
                </a:solidFill>
                <a:latin typeface="Cambria"/>
                <a:ea typeface="Cambria"/>
                <a:cs typeface="Cambria"/>
                <a:sym typeface="Cambria"/>
              </a:rPr>
              <a:t>Conclusión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1645920" y="2834640"/>
            <a:ext cx="8869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El Preparador de Pitch por Voz y Redacción entrega a estudiantes y personas con ansiedad social un espacio seguro para practicar, recibir feedback y mejorar su forma de comunicar antes del momento real.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1348740" y="4229100"/>
            <a:ext cx="777240" cy="777240"/>
          </a:xfrm>
          <a:prstGeom prst="ellipse">
            <a:avLst/>
          </a:prstGeom>
          <a:solidFill>
            <a:srgbClr val="8B7C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_laptop.png" id="228" name="Google Shape;22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3050" y="4423410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0"/>
          <p:cNvSpPr/>
          <p:nvPr/>
        </p:nvSpPr>
        <p:spPr>
          <a:xfrm>
            <a:off x="2240280" y="42976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5F5FA"/>
                </a:solidFill>
                <a:latin typeface="Cambria"/>
                <a:ea typeface="Cambria"/>
                <a:cs typeface="Cambria"/>
                <a:sym typeface="Cambria"/>
              </a:rPr>
              <a:t>Página web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2240280" y="466344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Primera versión: prototipo web funcional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4914900" y="4229100"/>
            <a:ext cx="777240" cy="777240"/>
          </a:xfrm>
          <a:prstGeom prst="ellipse">
            <a:avLst/>
          </a:prstGeom>
          <a:solidFill>
            <a:srgbClr val="8B7C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_camera.png" id="232" name="Google Shape;232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09210" y="4423410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0"/>
          <p:cNvSpPr/>
          <p:nvPr/>
        </p:nvSpPr>
        <p:spPr>
          <a:xfrm>
            <a:off x="5806440" y="42976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5F5FA"/>
                </a:solidFill>
                <a:latin typeface="Cambria"/>
                <a:ea typeface="Cambria"/>
                <a:cs typeface="Cambria"/>
                <a:sym typeface="Cambria"/>
              </a:rPr>
              <a:t>Uso de cámara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5806440" y="466344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Análisis de acciones y lenguaje no verbal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8481060" y="4229100"/>
            <a:ext cx="777240" cy="777240"/>
          </a:xfrm>
          <a:prstGeom prst="ellipse">
            <a:avLst/>
          </a:prstGeom>
          <a:solidFill>
            <a:srgbClr val="8B7C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_cpu.png" id="236" name="Google Shape;236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75370" y="4423410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0"/>
          <p:cNvSpPr/>
          <p:nvPr/>
        </p:nvSpPr>
        <p:spPr>
          <a:xfrm>
            <a:off x="9372600" y="42976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5F5FA"/>
                </a:solidFill>
                <a:latin typeface="Cambria"/>
                <a:ea typeface="Cambria"/>
                <a:cs typeface="Cambria"/>
                <a:sym typeface="Cambria"/>
              </a:rPr>
              <a:t>Sistema completo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9372600" y="466344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Evolución a producto integral con mic y cámara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2026-08-30T21:51:29Z</dcterms:created>
  <dc:creator>PptxGenJS</dc:creator>
</cp:coreProperties>
</file>