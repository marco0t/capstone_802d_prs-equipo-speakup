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6" r:id="rId17"/>
    <p:sldId id="262" r:id="rId12"/>
    <p:sldId id="263" r:id="rId13"/>
    <p:sldId id="264" r:id="rId14"/>
    <p:sldId id="267" r:id="rId18"/>
    <p:sldId id="265" r:id="rId15"/>
  </p:sldIdLst>
  <p:sldSz cy="6858000" cx="1219167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6" roundtripDataSignature="AMtx7mhfRV3l6AF2ahtMs5v6UVeSLF5LT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customschemas.google.com/relationships/presentationmetadata" Target="metadata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939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530352" y="438912"/>
            <a:ext cx="68580" cy="566928"/>
          </a:xfrm>
          <a:prstGeom prst="rect">
            <a:avLst/>
          </a:prstGeom>
          <a:solidFill>
            <a:srgbClr val="29C6B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 txBox="1"/>
          <p:nvPr/>
        </p:nvSpPr>
        <p:spPr>
          <a:xfrm>
            <a:off x="758952" y="456237"/>
            <a:ext cx="10424100" cy="56640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22850" spcFirstLastPara="1" rIns="22850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500" u="none" cap="none" strike="noStrike">
                <a:solidFill>
                  <a:srgbClr val="F7FAFF"/>
                </a:solidFill>
                <a:latin typeface="Arial"/>
                <a:ea typeface="Arial"/>
                <a:cs typeface="Arial"/>
                <a:sym typeface="Arial"/>
              </a:rPr>
              <a:t>SpeakUP</a:t>
            </a:r>
            <a:endParaRPr sz="2100"/>
          </a:p>
        </p:txBody>
      </p:sp>
      <p:sp>
        <p:nvSpPr>
          <p:cNvPr id="86" name="Google Shape;86;p1"/>
          <p:cNvSpPr/>
          <p:nvPr/>
        </p:nvSpPr>
        <p:spPr>
          <a:xfrm>
            <a:off x="749808" y="6345936"/>
            <a:ext cx="10652760" cy="11887"/>
          </a:xfrm>
          <a:prstGeom prst="rect">
            <a:avLst/>
          </a:prstGeom>
          <a:solidFill>
            <a:srgbClr val="33456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658301" y="2047900"/>
            <a:ext cx="5164800" cy="11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22850" spcFirstLastPara="1" rIns="22850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00" u="none" cap="none" strike="noStrike">
                <a:solidFill>
                  <a:srgbClr val="F7FAFF"/>
                </a:solidFill>
                <a:latin typeface="Arial"/>
                <a:ea typeface="Arial"/>
                <a:cs typeface="Arial"/>
                <a:sym typeface="Arial"/>
              </a:rPr>
              <a:t>De la práctica de voz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3400" u="none" cap="none" strike="noStrike">
                <a:solidFill>
                  <a:srgbClr val="F7FAFF"/>
                </a:solidFill>
                <a:latin typeface="Arial"/>
                <a:ea typeface="Arial"/>
                <a:cs typeface="Arial"/>
                <a:sym typeface="Arial"/>
              </a:rPr>
              <a:t>a resultados medibles</a:t>
            </a:r>
            <a:endParaRPr/>
          </a:p>
        </p:txBody>
      </p:sp>
      <p:pic>
        <p:nvPicPr>
          <p:cNvPr descr="_speakup_fixed_crop_3.png" id="88" name="Google Shape;88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73776" y="759400"/>
            <a:ext cx="6661700" cy="550697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"/>
          <p:cNvSpPr/>
          <p:nvPr/>
        </p:nvSpPr>
        <p:spPr>
          <a:xfrm>
            <a:off x="530350" y="3826750"/>
            <a:ext cx="5420700" cy="20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ABD1"/>
              </a:buClr>
              <a:buSzPts val="1600"/>
              <a:buFont typeface="Calibri"/>
              <a:buNone/>
            </a:pPr>
            <a:r>
              <a:t/>
            </a:r>
            <a:endParaRPr i="1"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ABD1"/>
              </a:buClr>
              <a:buSzPts val="1600"/>
              <a:buFont typeface="Calibri"/>
              <a:buNone/>
            </a:pPr>
            <a:r>
              <a:rPr i="1"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Capstone_802D_PRS</a:t>
            </a:r>
            <a:endParaRPr i="1"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ABD1"/>
              </a:buClr>
              <a:buSzPts val="1600"/>
              <a:buFont typeface="Calibri"/>
              <a:buNone/>
            </a:pPr>
            <a:r>
              <a:t/>
            </a:r>
            <a:endParaRPr i="1"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ABD1"/>
              </a:buClr>
              <a:buSzPts val="1600"/>
              <a:buFont typeface="Calibri"/>
              <a:buNone/>
            </a:pPr>
            <a:r>
              <a:rPr i="1"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Profesor: Aldo Alberto Martinez Ordenes</a:t>
            </a:r>
            <a:endParaRPr i="1"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ABD1"/>
              </a:buClr>
              <a:buSzPts val="1600"/>
              <a:buFont typeface="Calibri"/>
              <a:buNone/>
            </a:pPr>
            <a:r>
              <a:t/>
            </a:r>
            <a:endParaRPr i="1"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ABD1"/>
              </a:buClr>
              <a:buSzPts val="1600"/>
              <a:buFont typeface="Calibri"/>
              <a:buNone/>
            </a:pPr>
            <a:r>
              <a:rPr i="1"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Integrantes: Marco Toloza</a:t>
            </a:r>
            <a:endParaRPr i="1"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939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"/>
          <p:cNvSpPr/>
          <p:nvPr/>
        </p:nvSpPr>
        <p:spPr>
          <a:xfrm>
            <a:off x="530352" y="438912"/>
            <a:ext cx="68580" cy="566928"/>
          </a:xfrm>
          <a:prstGeom prst="rect">
            <a:avLst/>
          </a:prstGeom>
          <a:solidFill>
            <a:srgbClr val="29C6B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2"/>
          <p:cNvSpPr txBox="1"/>
          <p:nvPr/>
        </p:nvSpPr>
        <p:spPr>
          <a:xfrm>
            <a:off x="758952" y="384048"/>
            <a:ext cx="10424160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22850" spcFirstLastPara="1" rIns="22850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7FAFF"/>
                </a:solidFill>
                <a:latin typeface="Arial"/>
                <a:ea typeface="Arial"/>
                <a:cs typeface="Arial"/>
                <a:sym typeface="Arial"/>
              </a:rPr>
              <a:t>01 · Roadmap</a:t>
            </a:r>
            <a:endParaRPr/>
          </a:p>
        </p:txBody>
      </p:sp>
      <p:sp>
        <p:nvSpPr>
          <p:cNvPr id="96" name="Google Shape;96;p2"/>
          <p:cNvSpPr txBox="1"/>
          <p:nvPr/>
        </p:nvSpPr>
        <p:spPr>
          <a:xfrm>
            <a:off x="786384" y="1005840"/>
            <a:ext cx="107899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22850" spcFirstLastPara="1" rIns="22850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B8CAE4"/>
                </a:solidFill>
                <a:latin typeface="Arial"/>
                <a:ea typeface="Arial"/>
                <a:cs typeface="Arial"/>
                <a:sym typeface="Arial"/>
              </a:rPr>
              <a:t>Evolución del proyecto y próximos pasos · agosto a diciembre de 2026</a:t>
            </a:r>
            <a:endParaRPr/>
          </a:p>
        </p:txBody>
      </p:sp>
      <p:sp>
        <p:nvSpPr>
          <p:cNvPr id="97" name="Google Shape;97;p2"/>
          <p:cNvSpPr/>
          <p:nvPr/>
        </p:nvSpPr>
        <p:spPr>
          <a:xfrm>
            <a:off x="749808" y="6345936"/>
            <a:ext cx="10652760" cy="11887"/>
          </a:xfrm>
          <a:prstGeom prst="rect">
            <a:avLst/>
          </a:prstGeom>
          <a:solidFill>
            <a:srgbClr val="33456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2"/>
          <p:cNvSpPr/>
          <p:nvPr/>
        </p:nvSpPr>
        <p:spPr>
          <a:xfrm>
            <a:off x="786384" y="1874519"/>
            <a:ext cx="2670048" cy="2212848"/>
          </a:xfrm>
          <a:prstGeom prst="roundRect">
            <a:avLst>
              <a:gd fmla="val 12000" name="adj"/>
            </a:avLst>
          </a:prstGeom>
          <a:solidFill>
            <a:srgbClr val="17244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2"/>
          <p:cNvSpPr txBox="1"/>
          <p:nvPr/>
        </p:nvSpPr>
        <p:spPr>
          <a:xfrm>
            <a:off x="950976" y="2075688"/>
            <a:ext cx="2286000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22850" spcFirstLastPara="1" rIns="22850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29C6BE"/>
                </a:solidFill>
                <a:latin typeface="Arial"/>
                <a:ea typeface="Arial"/>
                <a:cs typeface="Arial"/>
                <a:sym typeface="Arial"/>
              </a:rPr>
              <a:t>AGO</a:t>
            </a:r>
            <a:endParaRPr/>
          </a:p>
        </p:txBody>
      </p:sp>
      <p:sp>
        <p:nvSpPr>
          <p:cNvPr id="100" name="Google Shape;100;p2"/>
          <p:cNvSpPr txBox="1"/>
          <p:nvPr/>
        </p:nvSpPr>
        <p:spPr>
          <a:xfrm>
            <a:off x="950976" y="2633472"/>
            <a:ext cx="2377440" cy="356616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22850" spcFirstLastPara="1" rIns="22850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7FAFF"/>
                </a:solidFill>
                <a:latin typeface="Arial"/>
                <a:ea typeface="Arial"/>
                <a:cs typeface="Arial"/>
                <a:sym typeface="Arial"/>
              </a:rPr>
              <a:t>Definición</a:t>
            </a:r>
            <a:endParaRPr/>
          </a:p>
        </p:txBody>
      </p:sp>
      <p:sp>
        <p:nvSpPr>
          <p:cNvPr id="101" name="Google Shape;101;p2"/>
          <p:cNvSpPr txBox="1"/>
          <p:nvPr/>
        </p:nvSpPr>
        <p:spPr>
          <a:xfrm>
            <a:off x="950976" y="3127248"/>
            <a:ext cx="23317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22850" spcFirstLastPara="1" rIns="22850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B8CAE4"/>
                </a:solidFill>
                <a:latin typeface="Arial"/>
                <a:ea typeface="Arial"/>
                <a:cs typeface="Arial"/>
                <a:sym typeface="Arial"/>
              </a:rPr>
              <a:t>Problema, objetivos y primeras ideas.</a:t>
            </a:r>
            <a:endParaRPr/>
          </a:p>
        </p:txBody>
      </p:sp>
      <p:cxnSp>
        <p:nvCxnSpPr>
          <p:cNvPr id="102" name="Google Shape;102;p2"/>
          <p:cNvCxnSpPr/>
          <p:nvPr/>
        </p:nvCxnSpPr>
        <p:spPr>
          <a:xfrm>
            <a:off x="3465576" y="2971800"/>
            <a:ext cx="155448" cy="0"/>
          </a:xfrm>
          <a:prstGeom prst="straightConnector1">
            <a:avLst/>
          </a:prstGeom>
          <a:noFill/>
          <a:ln cap="flat" cmpd="sng" w="38100">
            <a:solidFill>
              <a:srgbClr val="29C6B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03" name="Google Shape;103;p2"/>
          <p:cNvSpPr/>
          <p:nvPr/>
        </p:nvSpPr>
        <p:spPr>
          <a:xfrm>
            <a:off x="3648456" y="1874519"/>
            <a:ext cx="2670048" cy="2212848"/>
          </a:xfrm>
          <a:prstGeom prst="roundRect">
            <a:avLst>
              <a:gd fmla="val 12000" name="adj"/>
            </a:avLst>
          </a:prstGeom>
          <a:solidFill>
            <a:srgbClr val="17244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2"/>
          <p:cNvSpPr txBox="1"/>
          <p:nvPr/>
        </p:nvSpPr>
        <p:spPr>
          <a:xfrm>
            <a:off x="3813048" y="2075688"/>
            <a:ext cx="2286000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22850" spcFirstLastPara="1" rIns="22850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29C6BE"/>
                </a:solidFill>
                <a:latin typeface="Arial"/>
                <a:ea typeface="Arial"/>
                <a:cs typeface="Arial"/>
                <a:sym typeface="Arial"/>
              </a:rPr>
              <a:t>SEP</a:t>
            </a:r>
            <a:endParaRPr/>
          </a:p>
        </p:txBody>
      </p:sp>
      <p:sp>
        <p:nvSpPr>
          <p:cNvPr id="105" name="Google Shape;105;p2"/>
          <p:cNvSpPr txBox="1"/>
          <p:nvPr/>
        </p:nvSpPr>
        <p:spPr>
          <a:xfrm>
            <a:off x="3813048" y="2633472"/>
            <a:ext cx="2377440" cy="356616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22850" spcFirstLastPara="1" rIns="22850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7FAFF"/>
                </a:solidFill>
                <a:latin typeface="Arial"/>
                <a:ea typeface="Arial"/>
                <a:cs typeface="Arial"/>
                <a:sym typeface="Arial"/>
              </a:rPr>
              <a:t>Desarrollo base</a:t>
            </a:r>
            <a:endParaRPr/>
          </a:p>
        </p:txBody>
      </p:sp>
      <p:sp>
        <p:nvSpPr>
          <p:cNvPr id="106" name="Google Shape;106;p2"/>
          <p:cNvSpPr txBox="1"/>
          <p:nvPr/>
        </p:nvSpPr>
        <p:spPr>
          <a:xfrm>
            <a:off x="3813048" y="3127248"/>
            <a:ext cx="23317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22850" spcFirstLastPara="1" rIns="22850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B8CAE4"/>
                </a:solidFill>
                <a:latin typeface="Arial"/>
                <a:ea typeface="Arial"/>
                <a:cs typeface="Arial"/>
                <a:sym typeface="Arial"/>
              </a:rPr>
              <a:t>Interfaz, registro e integración de voz.</a:t>
            </a:r>
            <a:endParaRPr/>
          </a:p>
        </p:txBody>
      </p:sp>
      <p:cxnSp>
        <p:nvCxnSpPr>
          <p:cNvPr id="107" name="Google Shape;107;p2"/>
          <p:cNvCxnSpPr/>
          <p:nvPr/>
        </p:nvCxnSpPr>
        <p:spPr>
          <a:xfrm>
            <a:off x="6327648" y="2971800"/>
            <a:ext cx="155448" cy="0"/>
          </a:xfrm>
          <a:prstGeom prst="straightConnector1">
            <a:avLst/>
          </a:prstGeom>
          <a:noFill/>
          <a:ln cap="flat" cmpd="sng" w="38100">
            <a:solidFill>
              <a:srgbClr val="29C6B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08" name="Google Shape;108;p2"/>
          <p:cNvSpPr/>
          <p:nvPr/>
        </p:nvSpPr>
        <p:spPr>
          <a:xfrm>
            <a:off x="6510528" y="1874519"/>
            <a:ext cx="2670048" cy="2212848"/>
          </a:xfrm>
          <a:prstGeom prst="roundRect">
            <a:avLst>
              <a:gd fmla="val 12000" name="adj"/>
            </a:avLst>
          </a:prstGeom>
          <a:solidFill>
            <a:srgbClr val="17244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2"/>
          <p:cNvSpPr txBox="1"/>
          <p:nvPr/>
        </p:nvSpPr>
        <p:spPr>
          <a:xfrm>
            <a:off x="6675120" y="2075688"/>
            <a:ext cx="2286000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22850" spcFirstLastPara="1" rIns="22850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29C6BE"/>
                </a:solidFill>
                <a:latin typeface="Arial"/>
                <a:ea typeface="Arial"/>
                <a:cs typeface="Arial"/>
                <a:sym typeface="Arial"/>
              </a:rPr>
              <a:t>OCT</a:t>
            </a:r>
            <a:endParaRPr/>
          </a:p>
        </p:txBody>
      </p:sp>
      <p:sp>
        <p:nvSpPr>
          <p:cNvPr id="110" name="Google Shape;110;p2"/>
          <p:cNvSpPr txBox="1"/>
          <p:nvPr/>
        </p:nvSpPr>
        <p:spPr>
          <a:xfrm>
            <a:off x="6675120" y="2633472"/>
            <a:ext cx="2377440" cy="356616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22850" spcFirstLastPara="1" rIns="22850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7FAFF"/>
                </a:solidFill>
                <a:latin typeface="Arial"/>
                <a:ea typeface="Arial"/>
                <a:cs typeface="Arial"/>
                <a:sym typeface="Arial"/>
              </a:rPr>
              <a:t>Seguimiento</a:t>
            </a:r>
            <a:endParaRPr/>
          </a:p>
        </p:txBody>
      </p:sp>
      <p:sp>
        <p:nvSpPr>
          <p:cNvPr id="111" name="Google Shape;111;p2"/>
          <p:cNvSpPr txBox="1"/>
          <p:nvPr/>
        </p:nvSpPr>
        <p:spPr>
          <a:xfrm>
            <a:off x="6675120" y="3127248"/>
            <a:ext cx="23317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22850" spcFirstLastPara="1" rIns="22850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B8CAE4"/>
                </a:solidFill>
                <a:latin typeface="Arial"/>
                <a:ea typeface="Arial"/>
                <a:cs typeface="Arial"/>
                <a:sym typeface="Arial"/>
              </a:rPr>
              <a:t>Análisis, guardado e historial de prácticas.</a:t>
            </a:r>
            <a:endParaRPr/>
          </a:p>
        </p:txBody>
      </p:sp>
      <p:cxnSp>
        <p:nvCxnSpPr>
          <p:cNvPr id="112" name="Google Shape;112;p2"/>
          <p:cNvCxnSpPr/>
          <p:nvPr/>
        </p:nvCxnSpPr>
        <p:spPr>
          <a:xfrm>
            <a:off x="9189720" y="2971800"/>
            <a:ext cx="155448" cy="0"/>
          </a:xfrm>
          <a:prstGeom prst="straightConnector1">
            <a:avLst/>
          </a:prstGeom>
          <a:noFill/>
          <a:ln cap="flat" cmpd="sng" w="38100">
            <a:solidFill>
              <a:srgbClr val="29C6B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13" name="Google Shape;113;p2"/>
          <p:cNvSpPr/>
          <p:nvPr/>
        </p:nvSpPr>
        <p:spPr>
          <a:xfrm>
            <a:off x="9372600" y="1874519"/>
            <a:ext cx="2670048" cy="2212848"/>
          </a:xfrm>
          <a:prstGeom prst="roundRect">
            <a:avLst>
              <a:gd fmla="val 12000" name="adj"/>
            </a:avLst>
          </a:prstGeom>
          <a:solidFill>
            <a:srgbClr val="17244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2"/>
          <p:cNvSpPr txBox="1"/>
          <p:nvPr/>
        </p:nvSpPr>
        <p:spPr>
          <a:xfrm>
            <a:off x="9537192" y="2075688"/>
            <a:ext cx="2286000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22850" spcFirstLastPara="1" rIns="22850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29C6BE"/>
                </a:solidFill>
                <a:latin typeface="Arial"/>
                <a:ea typeface="Arial"/>
                <a:cs typeface="Arial"/>
                <a:sym typeface="Arial"/>
              </a:rPr>
              <a:t>NOV–DIC</a:t>
            </a:r>
            <a:endParaRPr/>
          </a:p>
        </p:txBody>
      </p:sp>
      <p:sp>
        <p:nvSpPr>
          <p:cNvPr id="115" name="Google Shape;115;p2"/>
          <p:cNvSpPr txBox="1"/>
          <p:nvPr/>
        </p:nvSpPr>
        <p:spPr>
          <a:xfrm>
            <a:off x="9537192" y="2633472"/>
            <a:ext cx="2377440" cy="356616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22850" spcFirstLastPara="1" rIns="22850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7FAFF"/>
                </a:solidFill>
                <a:latin typeface="Arial"/>
                <a:ea typeface="Arial"/>
                <a:cs typeface="Arial"/>
                <a:sym typeface="Arial"/>
              </a:rPr>
              <a:t>Evolución prevista</a:t>
            </a:r>
            <a:endParaRPr/>
          </a:p>
        </p:txBody>
      </p:sp>
      <p:sp>
        <p:nvSpPr>
          <p:cNvPr id="116" name="Google Shape;116;p2"/>
          <p:cNvSpPr txBox="1"/>
          <p:nvPr/>
        </p:nvSpPr>
        <p:spPr>
          <a:xfrm>
            <a:off x="9537192" y="3127248"/>
            <a:ext cx="23317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22850" spcFirstLastPara="1" rIns="22850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B8CAE4"/>
                </a:solidFill>
                <a:latin typeface="Arial"/>
                <a:ea typeface="Arial"/>
                <a:cs typeface="Arial"/>
                <a:sym typeface="Arial"/>
              </a:rPr>
              <a:t>Pruebas, mejoras y evaluación de cámara.</a:t>
            </a:r>
            <a:endParaRPr/>
          </a:p>
        </p:txBody>
      </p:sp>
      <p:sp>
        <p:nvSpPr>
          <p:cNvPr id="117" name="Google Shape;117;p2"/>
          <p:cNvSpPr/>
          <p:nvPr/>
        </p:nvSpPr>
        <p:spPr>
          <a:xfrm>
            <a:off x="832104" y="4581144"/>
            <a:ext cx="10497312" cy="1143000"/>
          </a:xfrm>
          <a:prstGeom prst="roundRect">
            <a:avLst>
              <a:gd fmla="val 12000" name="adj"/>
            </a:avLst>
          </a:prstGeom>
          <a:solidFill>
            <a:srgbClr val="17244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2"/>
          <p:cNvSpPr/>
          <p:nvPr/>
        </p:nvSpPr>
        <p:spPr>
          <a:xfrm>
            <a:off x="832104" y="4581144"/>
            <a:ext cx="50292" cy="1143000"/>
          </a:xfrm>
          <a:prstGeom prst="rect">
            <a:avLst/>
          </a:prstGeom>
          <a:solidFill>
            <a:srgbClr val="29C6B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2"/>
          <p:cNvSpPr txBox="1"/>
          <p:nvPr/>
        </p:nvSpPr>
        <p:spPr>
          <a:xfrm>
            <a:off x="1033272" y="4745736"/>
            <a:ext cx="10131552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22850" spcFirstLastPara="1" rIns="22850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7FAFF"/>
                </a:solidFill>
                <a:latin typeface="Arial"/>
                <a:ea typeface="Arial"/>
                <a:cs typeface="Arial"/>
                <a:sym typeface="Arial"/>
              </a:rPr>
              <a:t>Hito principal</a:t>
            </a:r>
            <a:endParaRPr/>
          </a:p>
        </p:txBody>
      </p:sp>
      <p:sp>
        <p:nvSpPr>
          <p:cNvPr id="120" name="Google Shape;120;p2"/>
          <p:cNvSpPr txBox="1"/>
          <p:nvPr/>
        </p:nvSpPr>
        <p:spPr>
          <a:xfrm>
            <a:off x="1033272" y="5202936"/>
            <a:ext cx="10085832" cy="411479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22850" spcFirstLastPara="1" rIns="22850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B8CAE4"/>
                </a:solidFill>
                <a:latin typeface="Arial"/>
                <a:ea typeface="Arial"/>
                <a:cs typeface="Arial"/>
                <a:sym typeface="Arial"/>
              </a:rPr>
              <a:t>La plataforma pasó de una propuesta de práctica oral a un sistema que registra transcripciones, métricas y recomendaciones.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939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"/>
          <p:cNvSpPr/>
          <p:nvPr/>
        </p:nvSpPr>
        <p:spPr>
          <a:xfrm>
            <a:off x="530352" y="438912"/>
            <a:ext cx="68580" cy="566928"/>
          </a:xfrm>
          <a:prstGeom prst="rect">
            <a:avLst/>
          </a:prstGeom>
          <a:solidFill>
            <a:srgbClr val="29C6B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3"/>
          <p:cNvSpPr txBox="1"/>
          <p:nvPr/>
        </p:nvSpPr>
        <p:spPr>
          <a:xfrm>
            <a:off x="758952" y="384048"/>
            <a:ext cx="10424160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22850" spcFirstLastPara="1" rIns="22850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7FAFF"/>
                </a:solidFill>
                <a:latin typeface="Arial"/>
                <a:ea typeface="Arial"/>
                <a:cs typeface="Arial"/>
                <a:sym typeface="Arial"/>
              </a:rPr>
              <a:t>02 · Modelo de base de datos</a:t>
            </a:r>
            <a:endParaRPr/>
          </a:p>
        </p:txBody>
      </p:sp>
      <p:sp>
        <p:nvSpPr>
          <p:cNvPr id="127" name="Google Shape;127;p3"/>
          <p:cNvSpPr txBox="1"/>
          <p:nvPr/>
        </p:nvSpPr>
        <p:spPr>
          <a:xfrm>
            <a:off x="786384" y="1005840"/>
            <a:ext cx="107899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22850" spcFirstLastPara="1" rIns="22850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B8CAE4"/>
                </a:solidFill>
                <a:latin typeface="Arial"/>
                <a:ea typeface="Arial"/>
                <a:cs typeface="Arial"/>
                <a:sym typeface="Arial"/>
              </a:rPr>
              <a:t>SQLite y Django ORM · relación entre usuarios y prácticas</a:t>
            </a:r>
            <a:endParaRPr/>
          </a:p>
        </p:txBody>
      </p:sp>
      <p:sp>
        <p:nvSpPr>
          <p:cNvPr id="128" name="Google Shape;128;p3"/>
          <p:cNvSpPr/>
          <p:nvPr/>
        </p:nvSpPr>
        <p:spPr>
          <a:xfrm>
            <a:off x="749808" y="6345936"/>
            <a:ext cx="10652760" cy="11887"/>
          </a:xfrm>
          <a:prstGeom prst="rect">
            <a:avLst/>
          </a:prstGeom>
          <a:solidFill>
            <a:srgbClr val="33456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3"/>
          <p:cNvSpPr/>
          <p:nvPr/>
        </p:nvSpPr>
        <p:spPr>
          <a:xfrm>
            <a:off x="804672" y="1828800"/>
            <a:ext cx="3657600" cy="3227832"/>
          </a:xfrm>
          <a:prstGeom prst="roundRect">
            <a:avLst>
              <a:gd fmla="val 10000" name="adj"/>
            </a:avLst>
          </a:prstGeom>
          <a:solidFill>
            <a:srgbClr val="17244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3"/>
          <p:cNvSpPr txBox="1"/>
          <p:nvPr/>
        </p:nvSpPr>
        <p:spPr>
          <a:xfrm>
            <a:off x="1024128" y="2048256"/>
            <a:ext cx="31089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22850" spcFirstLastPara="1" rIns="22850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29C6BE"/>
                </a:solidFill>
                <a:latin typeface="Arial"/>
                <a:ea typeface="Arial"/>
                <a:cs typeface="Arial"/>
                <a:sym typeface="Arial"/>
              </a:rPr>
              <a:t>USUARIO</a:t>
            </a:r>
            <a:endParaRPr/>
          </a:p>
        </p:txBody>
      </p:sp>
      <p:sp>
        <p:nvSpPr>
          <p:cNvPr id="131" name="Google Shape;131;p3"/>
          <p:cNvSpPr txBox="1"/>
          <p:nvPr/>
        </p:nvSpPr>
        <p:spPr>
          <a:xfrm>
            <a:off x="1033271" y="2752344"/>
            <a:ext cx="3246120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22850" spcFirstLastPara="1" rIns="22850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F7FAFF"/>
                </a:solidFill>
                <a:latin typeface="Arial"/>
                <a:ea typeface="Arial"/>
                <a:cs typeface="Arial"/>
                <a:sym typeface="Arial"/>
              </a:rPr>
              <a:t>• id · identificador</a:t>
            </a:r>
            <a:endParaRPr/>
          </a:p>
        </p:txBody>
      </p:sp>
      <p:sp>
        <p:nvSpPr>
          <p:cNvPr id="132" name="Google Shape;132;p3"/>
          <p:cNvSpPr txBox="1"/>
          <p:nvPr/>
        </p:nvSpPr>
        <p:spPr>
          <a:xfrm>
            <a:off x="1033271" y="3273551"/>
            <a:ext cx="3246120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22850" spcFirstLastPara="1" rIns="22850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F7FAFF"/>
                </a:solidFill>
                <a:latin typeface="Arial"/>
                <a:ea typeface="Arial"/>
                <a:cs typeface="Arial"/>
                <a:sym typeface="Arial"/>
              </a:rPr>
              <a:t>• nombre · correo único</a:t>
            </a:r>
            <a:endParaRPr/>
          </a:p>
        </p:txBody>
      </p:sp>
      <p:sp>
        <p:nvSpPr>
          <p:cNvPr id="133" name="Google Shape;133;p3"/>
          <p:cNvSpPr txBox="1"/>
          <p:nvPr/>
        </p:nvSpPr>
        <p:spPr>
          <a:xfrm>
            <a:off x="1033271" y="3794759"/>
            <a:ext cx="3246120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22850" spcFirstLastPara="1" rIns="22850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F7FAFF"/>
                </a:solidFill>
                <a:latin typeface="Arial"/>
                <a:ea typeface="Arial"/>
                <a:cs typeface="Arial"/>
                <a:sym typeface="Arial"/>
              </a:rPr>
              <a:t>• contraseña cifrada · rol</a:t>
            </a:r>
            <a:endParaRPr/>
          </a:p>
        </p:txBody>
      </p:sp>
      <p:sp>
        <p:nvSpPr>
          <p:cNvPr id="134" name="Google Shape;134;p3"/>
          <p:cNvSpPr/>
          <p:nvPr/>
        </p:nvSpPr>
        <p:spPr>
          <a:xfrm>
            <a:off x="6592824" y="1828800"/>
            <a:ext cx="4690872" cy="3227832"/>
          </a:xfrm>
          <a:prstGeom prst="roundRect">
            <a:avLst>
              <a:gd fmla="val 10000" name="adj"/>
            </a:avLst>
          </a:prstGeom>
          <a:solidFill>
            <a:srgbClr val="17244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3"/>
          <p:cNvSpPr txBox="1"/>
          <p:nvPr/>
        </p:nvSpPr>
        <p:spPr>
          <a:xfrm>
            <a:off x="6812280" y="2048256"/>
            <a:ext cx="41148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22850" spcFirstLastPara="1" rIns="22850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29C6BE"/>
                </a:solidFill>
                <a:latin typeface="Arial"/>
                <a:ea typeface="Arial"/>
                <a:cs typeface="Arial"/>
                <a:sym typeface="Arial"/>
              </a:rPr>
              <a:t>CONVERSACION</a:t>
            </a:r>
            <a:endParaRPr/>
          </a:p>
        </p:txBody>
      </p:sp>
      <p:sp>
        <p:nvSpPr>
          <p:cNvPr id="136" name="Google Shape;136;p3"/>
          <p:cNvSpPr txBox="1"/>
          <p:nvPr/>
        </p:nvSpPr>
        <p:spPr>
          <a:xfrm>
            <a:off x="6812280" y="2679192"/>
            <a:ext cx="41605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22850" spcFirstLastPara="1" rIns="22850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7FAFF"/>
                </a:solidFill>
                <a:latin typeface="Arial"/>
                <a:ea typeface="Arial"/>
                <a:cs typeface="Arial"/>
                <a:sym typeface="Arial"/>
              </a:rPr>
              <a:t>• usuario_id · fecha inicio / fin</a:t>
            </a:r>
            <a:endParaRPr/>
          </a:p>
        </p:txBody>
      </p:sp>
      <p:sp>
        <p:nvSpPr>
          <p:cNvPr id="137" name="Google Shape;137;p3"/>
          <p:cNvSpPr txBox="1"/>
          <p:nvPr/>
        </p:nvSpPr>
        <p:spPr>
          <a:xfrm>
            <a:off x="6812280" y="3136392"/>
            <a:ext cx="41605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22850" spcFirstLastPara="1" rIns="22850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7FAFF"/>
                </a:solidFill>
                <a:latin typeface="Arial"/>
                <a:ea typeface="Arial"/>
                <a:cs typeface="Arial"/>
                <a:sym typeface="Arial"/>
              </a:rPr>
              <a:t>• situación · transcripción</a:t>
            </a:r>
            <a:endParaRPr/>
          </a:p>
        </p:txBody>
      </p:sp>
      <p:sp>
        <p:nvSpPr>
          <p:cNvPr id="138" name="Google Shape;138;p3"/>
          <p:cNvSpPr txBox="1"/>
          <p:nvPr/>
        </p:nvSpPr>
        <p:spPr>
          <a:xfrm>
            <a:off x="6812280" y="3593592"/>
            <a:ext cx="41605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22850" spcFirstLastPara="1" rIns="22850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7FAFF"/>
                </a:solidFill>
                <a:latin typeface="Arial"/>
                <a:ea typeface="Arial"/>
                <a:cs typeface="Arial"/>
                <a:sym typeface="Arial"/>
              </a:rPr>
              <a:t>• palabras · muletillas · repeticiones</a:t>
            </a:r>
            <a:endParaRPr/>
          </a:p>
        </p:txBody>
      </p:sp>
      <p:sp>
        <p:nvSpPr>
          <p:cNvPr id="139" name="Google Shape;139;p3"/>
          <p:cNvSpPr txBox="1"/>
          <p:nvPr/>
        </p:nvSpPr>
        <p:spPr>
          <a:xfrm>
            <a:off x="6812280" y="4050791"/>
            <a:ext cx="41605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22850" spcFirstLastPara="1" rIns="22850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7FAFF"/>
                </a:solidFill>
                <a:latin typeface="Arial"/>
                <a:ea typeface="Arial"/>
                <a:cs typeface="Arial"/>
                <a:sym typeface="Arial"/>
              </a:rPr>
              <a:t>• recomendación · consejo</a:t>
            </a:r>
            <a:endParaRPr/>
          </a:p>
        </p:txBody>
      </p:sp>
      <p:cxnSp>
        <p:nvCxnSpPr>
          <p:cNvPr id="140" name="Google Shape;140;p3"/>
          <p:cNvCxnSpPr/>
          <p:nvPr/>
        </p:nvCxnSpPr>
        <p:spPr>
          <a:xfrm>
            <a:off x="4471416" y="3273552"/>
            <a:ext cx="2112264" cy="0"/>
          </a:xfrm>
          <a:prstGeom prst="straightConnector1">
            <a:avLst/>
          </a:prstGeom>
          <a:noFill/>
          <a:ln cap="flat" cmpd="sng" w="38100">
            <a:solidFill>
              <a:srgbClr val="29C6B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41" name="Google Shape;141;p3"/>
          <p:cNvSpPr/>
          <p:nvPr/>
        </p:nvSpPr>
        <p:spPr>
          <a:xfrm>
            <a:off x="5093208" y="2807208"/>
            <a:ext cx="896112" cy="329184"/>
          </a:xfrm>
          <a:prstGeom prst="roundRect">
            <a:avLst>
              <a:gd fmla="val 22000" name="adj"/>
            </a:avLst>
          </a:prstGeom>
          <a:solidFill>
            <a:srgbClr val="29C6B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3"/>
          <p:cNvSpPr txBox="1"/>
          <p:nvPr/>
        </p:nvSpPr>
        <p:spPr>
          <a:xfrm>
            <a:off x="5175504" y="2857500"/>
            <a:ext cx="758952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22850" spcFirstLastPara="1" rIns="22850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7FAFF"/>
                </a:solidFill>
                <a:latin typeface="Arial"/>
                <a:ea typeface="Arial"/>
                <a:cs typeface="Arial"/>
                <a:sym typeface="Arial"/>
              </a:rPr>
              <a:t>1 : N</a:t>
            </a:r>
            <a:endParaRPr/>
          </a:p>
        </p:txBody>
      </p:sp>
      <p:sp>
        <p:nvSpPr>
          <p:cNvPr id="143" name="Google Shape;143;p3"/>
          <p:cNvSpPr txBox="1"/>
          <p:nvPr/>
        </p:nvSpPr>
        <p:spPr>
          <a:xfrm>
            <a:off x="941832" y="5404104"/>
            <a:ext cx="10332720" cy="493776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22850" spcFirstLastPara="1" rIns="22850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B8CAE4"/>
                </a:solidFill>
                <a:latin typeface="Arial"/>
                <a:ea typeface="Arial"/>
                <a:cs typeface="Arial"/>
                <a:sym typeface="Arial"/>
              </a:rPr>
              <a:t>Cada práctica pertenece a un usuario. El historial se consulta mediante esa relación.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939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4"/>
          <p:cNvSpPr/>
          <p:nvPr/>
        </p:nvSpPr>
        <p:spPr>
          <a:xfrm>
            <a:off x="530352" y="438912"/>
            <a:ext cx="68580" cy="566928"/>
          </a:xfrm>
          <a:prstGeom prst="rect">
            <a:avLst/>
          </a:prstGeom>
          <a:solidFill>
            <a:srgbClr val="29C6B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4"/>
          <p:cNvSpPr txBox="1"/>
          <p:nvPr/>
        </p:nvSpPr>
        <p:spPr>
          <a:xfrm>
            <a:off x="758952" y="384048"/>
            <a:ext cx="10424160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22850" spcFirstLastPara="1" rIns="22850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7FAFF"/>
                </a:solidFill>
                <a:latin typeface="Arial"/>
                <a:ea typeface="Arial"/>
                <a:cs typeface="Arial"/>
                <a:sym typeface="Arial"/>
              </a:rPr>
              <a:t>03 · Evidencias de metodología</a:t>
            </a:r>
            <a:endParaRPr/>
          </a:p>
        </p:txBody>
      </p:sp>
      <p:sp>
        <p:nvSpPr>
          <p:cNvPr id="150" name="Google Shape;150;p4"/>
          <p:cNvSpPr txBox="1"/>
          <p:nvPr/>
        </p:nvSpPr>
        <p:spPr>
          <a:xfrm>
            <a:off x="786384" y="1005840"/>
            <a:ext cx="107899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22850" spcFirstLastPara="1" rIns="22850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B8CAE4"/>
                </a:solidFill>
                <a:latin typeface="Arial"/>
                <a:ea typeface="Arial"/>
                <a:cs typeface="Arial"/>
                <a:sym typeface="Arial"/>
              </a:rPr>
              <a:t>Cascada adaptada · evidencias de diseño, implementación y pruebas</a:t>
            </a:r>
            <a:endParaRPr/>
          </a:p>
        </p:txBody>
      </p:sp>
      <p:sp>
        <p:nvSpPr>
          <p:cNvPr id="151" name="Google Shape;151;p4"/>
          <p:cNvSpPr/>
          <p:nvPr/>
        </p:nvSpPr>
        <p:spPr>
          <a:xfrm>
            <a:off x="749808" y="6345936"/>
            <a:ext cx="10652760" cy="11887"/>
          </a:xfrm>
          <a:prstGeom prst="rect">
            <a:avLst/>
          </a:prstGeom>
          <a:solidFill>
            <a:srgbClr val="33456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4"/>
          <p:cNvSpPr/>
          <p:nvPr/>
        </p:nvSpPr>
        <p:spPr>
          <a:xfrm>
            <a:off x="822960" y="1719072"/>
            <a:ext cx="2651760" cy="1737360"/>
          </a:xfrm>
          <a:prstGeom prst="roundRect">
            <a:avLst>
              <a:gd fmla="val 12000" name="adj"/>
            </a:avLst>
          </a:prstGeom>
          <a:solidFill>
            <a:srgbClr val="17244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4"/>
          <p:cNvSpPr txBox="1"/>
          <p:nvPr/>
        </p:nvSpPr>
        <p:spPr>
          <a:xfrm>
            <a:off x="969264" y="1874519"/>
            <a:ext cx="640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22850" spcFirstLastPara="1" rIns="22850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29C6BE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/>
          </a:p>
        </p:txBody>
      </p:sp>
      <p:sp>
        <p:nvSpPr>
          <p:cNvPr id="154" name="Google Shape;154;p4"/>
          <p:cNvSpPr txBox="1"/>
          <p:nvPr/>
        </p:nvSpPr>
        <p:spPr>
          <a:xfrm>
            <a:off x="969264" y="2286000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22850" spcFirstLastPara="1" rIns="22850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7FAFF"/>
                </a:solidFill>
                <a:latin typeface="Arial"/>
                <a:ea typeface="Arial"/>
                <a:cs typeface="Arial"/>
                <a:sym typeface="Arial"/>
              </a:rPr>
              <a:t>Diseño</a:t>
            </a:r>
            <a:endParaRPr/>
          </a:p>
        </p:txBody>
      </p:sp>
      <p:sp>
        <p:nvSpPr>
          <p:cNvPr id="155" name="Google Shape;155;p4"/>
          <p:cNvSpPr txBox="1"/>
          <p:nvPr/>
        </p:nvSpPr>
        <p:spPr>
          <a:xfrm>
            <a:off x="969264" y="2697480"/>
            <a:ext cx="2304288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22850" spcFirstLastPara="1" rIns="22850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8CAE4"/>
                </a:solidFill>
                <a:latin typeface="Arial"/>
                <a:ea typeface="Arial"/>
                <a:cs typeface="Arial"/>
                <a:sym typeface="Arial"/>
              </a:rPr>
              <a:t>Objetivos, bocetos e interfaz.</a:t>
            </a:r>
            <a:endParaRPr/>
          </a:p>
        </p:txBody>
      </p:sp>
      <p:sp>
        <p:nvSpPr>
          <p:cNvPr id="156" name="Google Shape;156;p4"/>
          <p:cNvSpPr/>
          <p:nvPr/>
        </p:nvSpPr>
        <p:spPr>
          <a:xfrm>
            <a:off x="3685032" y="1719072"/>
            <a:ext cx="2651760" cy="1737360"/>
          </a:xfrm>
          <a:prstGeom prst="roundRect">
            <a:avLst>
              <a:gd fmla="val 12000" name="adj"/>
            </a:avLst>
          </a:prstGeom>
          <a:solidFill>
            <a:srgbClr val="17244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4"/>
          <p:cNvSpPr txBox="1"/>
          <p:nvPr/>
        </p:nvSpPr>
        <p:spPr>
          <a:xfrm>
            <a:off x="3831336" y="1874519"/>
            <a:ext cx="640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22850" spcFirstLastPara="1" rIns="22850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29C6BE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  <p:sp>
        <p:nvSpPr>
          <p:cNvPr id="158" name="Google Shape;158;p4"/>
          <p:cNvSpPr txBox="1"/>
          <p:nvPr/>
        </p:nvSpPr>
        <p:spPr>
          <a:xfrm>
            <a:off x="3831336" y="2286000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22850" spcFirstLastPara="1" rIns="22850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7FAFF"/>
                </a:solidFill>
                <a:latin typeface="Arial"/>
                <a:ea typeface="Arial"/>
                <a:cs typeface="Arial"/>
                <a:sym typeface="Arial"/>
              </a:rPr>
              <a:t>Desarrollo</a:t>
            </a:r>
            <a:endParaRPr/>
          </a:p>
        </p:txBody>
      </p:sp>
      <p:sp>
        <p:nvSpPr>
          <p:cNvPr id="159" name="Google Shape;159;p4"/>
          <p:cNvSpPr txBox="1"/>
          <p:nvPr/>
        </p:nvSpPr>
        <p:spPr>
          <a:xfrm>
            <a:off x="3831336" y="2697480"/>
            <a:ext cx="2304288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22850" spcFirstLastPara="1" rIns="22850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8CAE4"/>
                </a:solidFill>
                <a:latin typeface="Arial"/>
                <a:ea typeface="Arial"/>
                <a:cs typeface="Arial"/>
                <a:sym typeface="Arial"/>
              </a:rPr>
              <a:t>Django, Web Speech API y SQLite.</a:t>
            </a:r>
            <a:endParaRPr/>
          </a:p>
        </p:txBody>
      </p:sp>
      <p:sp>
        <p:nvSpPr>
          <p:cNvPr id="160" name="Google Shape;160;p4"/>
          <p:cNvSpPr/>
          <p:nvPr/>
        </p:nvSpPr>
        <p:spPr>
          <a:xfrm>
            <a:off x="6547104" y="1719072"/>
            <a:ext cx="2651760" cy="1737360"/>
          </a:xfrm>
          <a:prstGeom prst="roundRect">
            <a:avLst>
              <a:gd fmla="val 12000" name="adj"/>
            </a:avLst>
          </a:prstGeom>
          <a:solidFill>
            <a:srgbClr val="17244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4"/>
          <p:cNvSpPr txBox="1"/>
          <p:nvPr/>
        </p:nvSpPr>
        <p:spPr>
          <a:xfrm>
            <a:off x="6693408" y="1874519"/>
            <a:ext cx="640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22850" spcFirstLastPara="1" rIns="22850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29C6BE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  <p:sp>
        <p:nvSpPr>
          <p:cNvPr id="162" name="Google Shape;162;p4"/>
          <p:cNvSpPr txBox="1"/>
          <p:nvPr/>
        </p:nvSpPr>
        <p:spPr>
          <a:xfrm>
            <a:off x="6693408" y="2286000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22850" spcFirstLastPara="1" rIns="22850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7FAFF"/>
                </a:solidFill>
                <a:latin typeface="Arial"/>
                <a:ea typeface="Arial"/>
                <a:cs typeface="Arial"/>
                <a:sym typeface="Arial"/>
              </a:rPr>
              <a:t>Análisis y pruebas</a:t>
            </a:r>
            <a:endParaRPr/>
          </a:p>
        </p:txBody>
      </p:sp>
      <p:sp>
        <p:nvSpPr>
          <p:cNvPr id="163" name="Google Shape;163;p4"/>
          <p:cNvSpPr txBox="1"/>
          <p:nvPr/>
        </p:nvSpPr>
        <p:spPr>
          <a:xfrm>
            <a:off x="6693408" y="2697480"/>
            <a:ext cx="2304288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22850" spcFirstLastPara="1" rIns="22850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8CAE4"/>
                </a:solidFill>
                <a:latin typeface="Arial"/>
                <a:ea typeface="Arial"/>
                <a:cs typeface="Arial"/>
                <a:sym typeface="Arial"/>
              </a:rPr>
              <a:t>Pruebas manuales de funciones.</a:t>
            </a:r>
            <a:endParaRPr/>
          </a:p>
        </p:txBody>
      </p:sp>
      <p:sp>
        <p:nvSpPr>
          <p:cNvPr id="164" name="Google Shape;164;p4"/>
          <p:cNvSpPr/>
          <p:nvPr/>
        </p:nvSpPr>
        <p:spPr>
          <a:xfrm>
            <a:off x="9409176" y="1719072"/>
            <a:ext cx="2651760" cy="1737360"/>
          </a:xfrm>
          <a:prstGeom prst="roundRect">
            <a:avLst>
              <a:gd fmla="val 12000" name="adj"/>
            </a:avLst>
          </a:prstGeom>
          <a:solidFill>
            <a:srgbClr val="17244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4"/>
          <p:cNvSpPr txBox="1"/>
          <p:nvPr/>
        </p:nvSpPr>
        <p:spPr>
          <a:xfrm>
            <a:off x="9555480" y="1874519"/>
            <a:ext cx="640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22850" spcFirstLastPara="1" rIns="22850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29C6BE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/>
          </a:p>
        </p:txBody>
      </p:sp>
      <p:sp>
        <p:nvSpPr>
          <p:cNvPr id="166" name="Google Shape;166;p4"/>
          <p:cNvSpPr txBox="1"/>
          <p:nvPr/>
        </p:nvSpPr>
        <p:spPr>
          <a:xfrm>
            <a:off x="9555480" y="2286000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22850" spcFirstLastPara="1" rIns="22850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7FAFF"/>
                </a:solidFill>
                <a:latin typeface="Arial"/>
                <a:ea typeface="Arial"/>
                <a:cs typeface="Arial"/>
                <a:sym typeface="Arial"/>
              </a:rPr>
              <a:t>Evolución</a:t>
            </a:r>
            <a:endParaRPr/>
          </a:p>
        </p:txBody>
      </p:sp>
      <p:sp>
        <p:nvSpPr>
          <p:cNvPr id="167" name="Google Shape;167;p4"/>
          <p:cNvSpPr txBox="1"/>
          <p:nvPr/>
        </p:nvSpPr>
        <p:spPr>
          <a:xfrm>
            <a:off x="9555480" y="2697480"/>
            <a:ext cx="2304288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22850" spcFirstLastPara="1" rIns="22850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8CAE4"/>
                </a:solidFill>
                <a:latin typeface="Arial"/>
                <a:ea typeface="Arial"/>
                <a:cs typeface="Arial"/>
                <a:sym typeface="Arial"/>
              </a:rPr>
              <a:t>Historial, ajustes y mejoras.</a:t>
            </a:r>
            <a:endParaRPr/>
          </a:p>
        </p:txBody>
      </p:sp>
      <p:pic>
        <p:nvPicPr>
          <p:cNvPr descr="_speakup_fixed_crop_1.png" id="168" name="Google Shape;168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8949" y="3785625"/>
            <a:ext cx="3122376" cy="2480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_speakup_fixed_crop_3.png" id="169" name="Google Shape;169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61975" y="3877075"/>
            <a:ext cx="3418099" cy="24807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_speakup_fixed_crop_4.png" id="170" name="Google Shape;170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93050" y="3785625"/>
            <a:ext cx="3739875" cy="2480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939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5"/>
          <p:cNvSpPr/>
          <p:nvPr/>
        </p:nvSpPr>
        <p:spPr>
          <a:xfrm>
            <a:off x="530352" y="438912"/>
            <a:ext cx="68580" cy="566928"/>
          </a:xfrm>
          <a:prstGeom prst="rect">
            <a:avLst/>
          </a:prstGeom>
          <a:solidFill>
            <a:srgbClr val="29C6B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5"/>
          <p:cNvSpPr txBox="1"/>
          <p:nvPr/>
        </p:nvSpPr>
        <p:spPr>
          <a:xfrm>
            <a:off x="758952" y="384048"/>
            <a:ext cx="10424160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22850" spcFirstLastPara="1" rIns="22850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7FAFF"/>
                </a:solidFill>
                <a:latin typeface="Arial"/>
                <a:ea typeface="Arial"/>
                <a:cs typeface="Arial"/>
                <a:sym typeface="Arial"/>
              </a:rPr>
              <a:t>04 · Arquitectura del sistema</a:t>
            </a:r>
            <a:endParaRPr/>
          </a:p>
        </p:txBody>
      </p:sp>
      <p:sp>
        <p:nvSpPr>
          <p:cNvPr id="177" name="Google Shape;177;p5"/>
          <p:cNvSpPr txBox="1"/>
          <p:nvPr/>
        </p:nvSpPr>
        <p:spPr>
          <a:xfrm>
            <a:off x="786384" y="1005840"/>
            <a:ext cx="107899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22850" spcFirstLastPara="1" rIns="22850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B8CAE4"/>
                </a:solidFill>
                <a:latin typeface="Arial"/>
                <a:ea typeface="Arial"/>
                <a:cs typeface="Arial"/>
                <a:sym typeface="Arial"/>
              </a:rPr>
              <a:t>Separación de responsabilidades entre navegador, servidor y datos</a:t>
            </a:r>
            <a:endParaRPr/>
          </a:p>
        </p:txBody>
      </p:sp>
      <p:sp>
        <p:nvSpPr>
          <p:cNvPr id="178" name="Google Shape;178;p5"/>
          <p:cNvSpPr/>
          <p:nvPr/>
        </p:nvSpPr>
        <p:spPr>
          <a:xfrm>
            <a:off x="749808" y="6345936"/>
            <a:ext cx="10652760" cy="11887"/>
          </a:xfrm>
          <a:prstGeom prst="rect">
            <a:avLst/>
          </a:prstGeom>
          <a:solidFill>
            <a:srgbClr val="33456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5"/>
          <p:cNvSpPr/>
          <p:nvPr/>
        </p:nvSpPr>
        <p:spPr>
          <a:xfrm>
            <a:off x="822960" y="1847088"/>
            <a:ext cx="2980944" cy="2761488"/>
          </a:xfrm>
          <a:prstGeom prst="roundRect">
            <a:avLst>
              <a:gd fmla="val 13000" name="adj"/>
            </a:avLst>
          </a:prstGeom>
          <a:solidFill>
            <a:srgbClr val="17244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5"/>
          <p:cNvSpPr txBox="1"/>
          <p:nvPr/>
        </p:nvSpPr>
        <p:spPr>
          <a:xfrm>
            <a:off x="1005840" y="2112264"/>
            <a:ext cx="2624328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22850" spcFirstLastPara="1" rIns="22850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29C6BE"/>
                </a:solidFill>
                <a:latin typeface="Arial"/>
                <a:ea typeface="Arial"/>
                <a:cs typeface="Arial"/>
                <a:sym typeface="Arial"/>
              </a:rPr>
              <a:t>NAVEGADOR</a:t>
            </a:r>
            <a:endParaRPr/>
          </a:p>
        </p:txBody>
      </p:sp>
      <p:sp>
        <p:nvSpPr>
          <p:cNvPr id="181" name="Google Shape;181;p5"/>
          <p:cNvSpPr txBox="1"/>
          <p:nvPr/>
        </p:nvSpPr>
        <p:spPr>
          <a:xfrm>
            <a:off x="1005840" y="2697480"/>
            <a:ext cx="2633472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22850" spcFirstLastPara="1" rIns="22850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7FAFF"/>
                </a:solidFill>
                <a:latin typeface="Arial"/>
                <a:ea typeface="Arial"/>
                <a:cs typeface="Arial"/>
                <a:sym typeface="Arial"/>
              </a:rPr>
              <a:t>HTML · CSS · JavaScript</a:t>
            </a:r>
            <a:endParaRPr/>
          </a:p>
        </p:txBody>
      </p:sp>
      <p:sp>
        <p:nvSpPr>
          <p:cNvPr id="182" name="Google Shape;182;p5"/>
          <p:cNvSpPr txBox="1"/>
          <p:nvPr/>
        </p:nvSpPr>
        <p:spPr>
          <a:xfrm>
            <a:off x="1005840" y="3401568"/>
            <a:ext cx="26517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22850" spcFirstLastPara="1" rIns="22850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B8CAE4"/>
                </a:solidFill>
                <a:latin typeface="Arial"/>
                <a:ea typeface="Arial"/>
                <a:cs typeface="Arial"/>
                <a:sym typeface="Arial"/>
              </a:rPr>
              <a:t>Web Speech API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B8CAE4"/>
                </a:solidFill>
                <a:latin typeface="Arial"/>
                <a:ea typeface="Arial"/>
                <a:cs typeface="Arial"/>
                <a:sym typeface="Arial"/>
              </a:rPr>
              <a:t>Transcripción y métricas</a:t>
            </a:r>
            <a:endParaRPr/>
          </a:p>
        </p:txBody>
      </p:sp>
      <p:sp>
        <p:nvSpPr>
          <p:cNvPr id="183" name="Google Shape;183;p5"/>
          <p:cNvSpPr/>
          <p:nvPr/>
        </p:nvSpPr>
        <p:spPr>
          <a:xfrm>
            <a:off x="4617720" y="1847088"/>
            <a:ext cx="2980944" cy="2761488"/>
          </a:xfrm>
          <a:prstGeom prst="roundRect">
            <a:avLst>
              <a:gd fmla="val 13000" name="adj"/>
            </a:avLst>
          </a:prstGeom>
          <a:solidFill>
            <a:srgbClr val="17244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5"/>
          <p:cNvSpPr txBox="1"/>
          <p:nvPr/>
        </p:nvSpPr>
        <p:spPr>
          <a:xfrm>
            <a:off x="4800600" y="2112264"/>
            <a:ext cx="2624328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22850" spcFirstLastPara="1" rIns="22850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29C6BE"/>
                </a:solidFill>
                <a:latin typeface="Arial"/>
                <a:ea typeface="Arial"/>
                <a:cs typeface="Arial"/>
                <a:sym typeface="Arial"/>
              </a:rPr>
              <a:t>BACKEND DJANGO</a:t>
            </a:r>
            <a:endParaRPr/>
          </a:p>
        </p:txBody>
      </p:sp>
      <p:sp>
        <p:nvSpPr>
          <p:cNvPr id="185" name="Google Shape;185;p5"/>
          <p:cNvSpPr txBox="1"/>
          <p:nvPr/>
        </p:nvSpPr>
        <p:spPr>
          <a:xfrm>
            <a:off x="4800600" y="2697480"/>
            <a:ext cx="2633472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22850" spcFirstLastPara="1" rIns="22850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7FAFF"/>
                </a:solidFill>
                <a:latin typeface="Arial"/>
                <a:ea typeface="Arial"/>
                <a:cs typeface="Arial"/>
                <a:sym typeface="Arial"/>
              </a:rPr>
              <a:t>Python · vistas · sesiones</a:t>
            </a:r>
            <a:endParaRPr/>
          </a:p>
        </p:txBody>
      </p:sp>
      <p:sp>
        <p:nvSpPr>
          <p:cNvPr id="186" name="Google Shape;186;p5"/>
          <p:cNvSpPr txBox="1"/>
          <p:nvPr/>
        </p:nvSpPr>
        <p:spPr>
          <a:xfrm>
            <a:off x="4800600" y="3401568"/>
            <a:ext cx="26517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22850" spcFirstLastPara="1" rIns="22850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B8CAE4"/>
                </a:solidFill>
                <a:latin typeface="Arial"/>
                <a:ea typeface="Arial"/>
                <a:cs typeface="Arial"/>
                <a:sym typeface="Arial"/>
              </a:rPr>
              <a:t>Autenticación y operaciones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B8CAE4"/>
                </a:solidFill>
                <a:latin typeface="Arial"/>
                <a:ea typeface="Arial"/>
                <a:cs typeface="Arial"/>
                <a:sym typeface="Arial"/>
              </a:rPr>
              <a:t>de conversaciones</a:t>
            </a:r>
            <a:endParaRPr/>
          </a:p>
        </p:txBody>
      </p:sp>
      <p:sp>
        <p:nvSpPr>
          <p:cNvPr id="187" name="Google Shape;187;p5"/>
          <p:cNvSpPr/>
          <p:nvPr/>
        </p:nvSpPr>
        <p:spPr>
          <a:xfrm>
            <a:off x="8394192" y="1847088"/>
            <a:ext cx="2980944" cy="2761488"/>
          </a:xfrm>
          <a:prstGeom prst="roundRect">
            <a:avLst>
              <a:gd fmla="val 13000" name="adj"/>
            </a:avLst>
          </a:prstGeom>
          <a:solidFill>
            <a:srgbClr val="17244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5"/>
          <p:cNvSpPr txBox="1"/>
          <p:nvPr/>
        </p:nvSpPr>
        <p:spPr>
          <a:xfrm>
            <a:off x="8577072" y="2112264"/>
            <a:ext cx="2624328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22850" spcFirstLastPara="1" rIns="22850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29C6BE"/>
                </a:solidFill>
                <a:latin typeface="Arial"/>
                <a:ea typeface="Arial"/>
                <a:cs typeface="Arial"/>
                <a:sym typeface="Arial"/>
              </a:rPr>
              <a:t>SQLITE</a:t>
            </a:r>
            <a:endParaRPr/>
          </a:p>
        </p:txBody>
      </p:sp>
      <p:sp>
        <p:nvSpPr>
          <p:cNvPr id="189" name="Google Shape;189;p5"/>
          <p:cNvSpPr txBox="1"/>
          <p:nvPr/>
        </p:nvSpPr>
        <p:spPr>
          <a:xfrm>
            <a:off x="8577072" y="2697480"/>
            <a:ext cx="2633472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22850" spcFirstLastPara="1" rIns="22850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7FAFF"/>
                </a:solidFill>
                <a:latin typeface="Arial"/>
                <a:ea typeface="Arial"/>
                <a:cs typeface="Arial"/>
                <a:sym typeface="Arial"/>
              </a:rPr>
              <a:t>Django ORM</a:t>
            </a:r>
            <a:endParaRPr/>
          </a:p>
        </p:txBody>
      </p:sp>
      <p:sp>
        <p:nvSpPr>
          <p:cNvPr id="190" name="Google Shape;190;p5"/>
          <p:cNvSpPr txBox="1"/>
          <p:nvPr/>
        </p:nvSpPr>
        <p:spPr>
          <a:xfrm>
            <a:off x="8577072" y="3401568"/>
            <a:ext cx="26517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22850" spcFirstLastPara="1" rIns="22850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B8CAE4"/>
                </a:solidFill>
                <a:latin typeface="Arial"/>
                <a:ea typeface="Arial"/>
                <a:cs typeface="Arial"/>
                <a:sym typeface="Arial"/>
              </a:rPr>
              <a:t>Usuarios, prácticas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B8CAE4"/>
                </a:solidFill>
                <a:latin typeface="Arial"/>
                <a:ea typeface="Arial"/>
                <a:cs typeface="Arial"/>
                <a:sym typeface="Arial"/>
              </a:rPr>
              <a:t>y recomendaciones</a:t>
            </a:r>
            <a:endParaRPr/>
          </a:p>
        </p:txBody>
      </p:sp>
      <p:cxnSp>
        <p:nvCxnSpPr>
          <p:cNvPr id="191" name="Google Shape;191;p5"/>
          <p:cNvCxnSpPr/>
          <p:nvPr/>
        </p:nvCxnSpPr>
        <p:spPr>
          <a:xfrm>
            <a:off x="3840480" y="3154680"/>
            <a:ext cx="740664" cy="0"/>
          </a:xfrm>
          <a:prstGeom prst="straightConnector1">
            <a:avLst/>
          </a:prstGeom>
          <a:noFill/>
          <a:ln cap="flat" cmpd="sng" w="38100">
            <a:solidFill>
              <a:srgbClr val="29C6B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192" name="Google Shape;192;p5"/>
          <p:cNvCxnSpPr/>
          <p:nvPr/>
        </p:nvCxnSpPr>
        <p:spPr>
          <a:xfrm>
            <a:off x="7635240" y="3154680"/>
            <a:ext cx="731520" cy="0"/>
          </a:xfrm>
          <a:prstGeom prst="straightConnector1">
            <a:avLst/>
          </a:prstGeom>
          <a:noFill/>
          <a:ln cap="flat" cmpd="sng" w="38100">
            <a:solidFill>
              <a:srgbClr val="29C6B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93" name="Google Shape;193;p5"/>
          <p:cNvSpPr/>
          <p:nvPr/>
        </p:nvSpPr>
        <p:spPr>
          <a:xfrm>
            <a:off x="868680" y="4937760"/>
            <a:ext cx="10488168" cy="1005840"/>
          </a:xfrm>
          <a:prstGeom prst="roundRect">
            <a:avLst>
              <a:gd fmla="val 12000" name="adj"/>
            </a:avLst>
          </a:prstGeom>
          <a:solidFill>
            <a:srgbClr val="17244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5"/>
          <p:cNvSpPr/>
          <p:nvPr/>
        </p:nvSpPr>
        <p:spPr>
          <a:xfrm>
            <a:off x="868680" y="4937760"/>
            <a:ext cx="50292" cy="1005840"/>
          </a:xfrm>
          <a:prstGeom prst="rect">
            <a:avLst/>
          </a:prstGeom>
          <a:solidFill>
            <a:srgbClr val="29C6B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5"/>
          <p:cNvSpPr txBox="1"/>
          <p:nvPr/>
        </p:nvSpPr>
        <p:spPr>
          <a:xfrm>
            <a:off x="1069848" y="5102352"/>
            <a:ext cx="10122408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22850" spcFirstLastPara="1" rIns="22850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7FAFF"/>
                </a:solidFill>
                <a:latin typeface="Arial"/>
                <a:ea typeface="Arial"/>
                <a:cs typeface="Arial"/>
                <a:sym typeface="Arial"/>
              </a:rPr>
              <a:t>Flujo real</a:t>
            </a:r>
            <a:endParaRPr/>
          </a:p>
        </p:txBody>
      </p:sp>
      <p:sp>
        <p:nvSpPr>
          <p:cNvPr id="196" name="Google Shape;196;p5"/>
          <p:cNvSpPr txBox="1"/>
          <p:nvPr/>
        </p:nvSpPr>
        <p:spPr>
          <a:xfrm>
            <a:off x="1069848" y="5559552"/>
            <a:ext cx="1007668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22850" spcFirstLastPara="1" rIns="22850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B8CAE4"/>
                </a:solidFill>
                <a:latin typeface="Arial"/>
                <a:ea typeface="Arial"/>
                <a:cs typeface="Arial"/>
                <a:sym typeface="Arial"/>
              </a:rPr>
              <a:t>El navegador analiza el discurso; al detener el micrófono envía los resultados a Django, que los guarda en SQLite.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939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6"/>
          <p:cNvSpPr/>
          <p:nvPr/>
        </p:nvSpPr>
        <p:spPr>
          <a:xfrm>
            <a:off x="530352" y="438912"/>
            <a:ext cx="68580" cy="566928"/>
          </a:xfrm>
          <a:prstGeom prst="rect">
            <a:avLst/>
          </a:prstGeom>
          <a:solidFill>
            <a:srgbClr val="29C6B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6"/>
          <p:cNvSpPr txBox="1"/>
          <p:nvPr/>
        </p:nvSpPr>
        <p:spPr>
          <a:xfrm>
            <a:off x="758952" y="384048"/>
            <a:ext cx="10424160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22850" spcFirstLastPara="1" rIns="22850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7FAFF"/>
                </a:solidFill>
                <a:latin typeface="Arial"/>
                <a:ea typeface="Arial"/>
                <a:cs typeface="Arial"/>
                <a:sym typeface="Arial"/>
              </a:rPr>
              <a:t>05 · Historias de usuario</a:t>
            </a:r>
            <a:endParaRPr/>
          </a:p>
        </p:txBody>
      </p:sp>
      <p:sp>
        <p:nvSpPr>
          <p:cNvPr id="203" name="Google Shape;203;p6"/>
          <p:cNvSpPr txBox="1"/>
          <p:nvPr/>
        </p:nvSpPr>
        <p:spPr>
          <a:xfrm>
            <a:off x="786384" y="1005840"/>
            <a:ext cx="107899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22850" spcFirstLastPara="1" rIns="22850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B8CAE4"/>
                </a:solidFill>
                <a:latin typeface="Arial"/>
                <a:ea typeface="Arial"/>
                <a:cs typeface="Arial"/>
                <a:sym typeface="Arial"/>
              </a:rPr>
              <a:t>Funcionalidades organizadas según lo que necesita la persona usuaria</a:t>
            </a:r>
            <a:endParaRPr/>
          </a:p>
        </p:txBody>
      </p:sp>
      <p:sp>
        <p:nvSpPr>
          <p:cNvPr id="204" name="Google Shape;204;p6"/>
          <p:cNvSpPr/>
          <p:nvPr/>
        </p:nvSpPr>
        <p:spPr>
          <a:xfrm>
            <a:off x="749808" y="6345936"/>
            <a:ext cx="10652760" cy="11887"/>
          </a:xfrm>
          <a:prstGeom prst="rect">
            <a:avLst/>
          </a:prstGeom>
          <a:solidFill>
            <a:srgbClr val="33456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_speakup_fixed_crop_2.png" id="205" name="Google Shape;205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4825" y="1700775"/>
            <a:ext cx="4252574" cy="444735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6"/>
          <p:cNvSpPr/>
          <p:nvPr/>
        </p:nvSpPr>
        <p:spPr>
          <a:xfrm>
            <a:off x="4892040" y="1700784"/>
            <a:ext cx="6373368" cy="969264"/>
          </a:xfrm>
          <a:prstGeom prst="roundRect">
            <a:avLst>
              <a:gd fmla="val 12000" name="adj"/>
            </a:avLst>
          </a:prstGeom>
          <a:solidFill>
            <a:srgbClr val="17244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6"/>
          <p:cNvSpPr/>
          <p:nvPr/>
        </p:nvSpPr>
        <p:spPr>
          <a:xfrm>
            <a:off x="4892040" y="1700784"/>
            <a:ext cx="50292" cy="969264"/>
          </a:xfrm>
          <a:prstGeom prst="rect">
            <a:avLst/>
          </a:prstGeom>
          <a:solidFill>
            <a:srgbClr val="29C6B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6"/>
          <p:cNvSpPr txBox="1"/>
          <p:nvPr/>
        </p:nvSpPr>
        <p:spPr>
          <a:xfrm>
            <a:off x="5093207" y="1865376"/>
            <a:ext cx="6007607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22850" spcFirstLastPara="1" rIns="22850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7FAFF"/>
                </a:solidFill>
                <a:latin typeface="Arial"/>
                <a:ea typeface="Arial"/>
                <a:cs typeface="Arial"/>
                <a:sym typeface="Arial"/>
              </a:rPr>
              <a:t>Acceso seguro</a:t>
            </a:r>
            <a:endParaRPr/>
          </a:p>
        </p:txBody>
      </p:sp>
      <p:sp>
        <p:nvSpPr>
          <p:cNvPr id="209" name="Google Shape;209;p6"/>
          <p:cNvSpPr txBox="1"/>
          <p:nvPr/>
        </p:nvSpPr>
        <p:spPr>
          <a:xfrm>
            <a:off x="5093207" y="2322576"/>
            <a:ext cx="5961888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22850" spcFirstLastPara="1" rIns="22850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8CAE4"/>
                </a:solidFill>
                <a:latin typeface="Arial"/>
                <a:ea typeface="Arial"/>
                <a:cs typeface="Arial"/>
                <a:sym typeface="Arial"/>
              </a:rPr>
              <a:t>Registrarse, iniciar y cerrar sesión.</a:t>
            </a:r>
            <a:endParaRPr/>
          </a:p>
        </p:txBody>
      </p:sp>
      <p:sp>
        <p:nvSpPr>
          <p:cNvPr id="210" name="Google Shape;210;p6"/>
          <p:cNvSpPr/>
          <p:nvPr/>
        </p:nvSpPr>
        <p:spPr>
          <a:xfrm>
            <a:off x="4892040" y="2779776"/>
            <a:ext cx="6373368" cy="969264"/>
          </a:xfrm>
          <a:prstGeom prst="roundRect">
            <a:avLst>
              <a:gd fmla="val 12000" name="adj"/>
            </a:avLst>
          </a:prstGeom>
          <a:solidFill>
            <a:srgbClr val="17244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6"/>
          <p:cNvSpPr/>
          <p:nvPr/>
        </p:nvSpPr>
        <p:spPr>
          <a:xfrm>
            <a:off x="4892040" y="2779776"/>
            <a:ext cx="50292" cy="969264"/>
          </a:xfrm>
          <a:prstGeom prst="rect">
            <a:avLst/>
          </a:prstGeom>
          <a:solidFill>
            <a:srgbClr val="345BA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6"/>
          <p:cNvSpPr txBox="1"/>
          <p:nvPr/>
        </p:nvSpPr>
        <p:spPr>
          <a:xfrm>
            <a:off x="5093207" y="2944368"/>
            <a:ext cx="6007607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22850" spcFirstLastPara="1" rIns="22850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7FAFF"/>
                </a:solidFill>
                <a:latin typeface="Arial"/>
                <a:ea typeface="Arial"/>
                <a:cs typeface="Arial"/>
                <a:sym typeface="Arial"/>
              </a:rPr>
              <a:t>Práctica oral</a:t>
            </a:r>
            <a:endParaRPr/>
          </a:p>
        </p:txBody>
      </p:sp>
      <p:sp>
        <p:nvSpPr>
          <p:cNvPr id="213" name="Google Shape;213;p6"/>
          <p:cNvSpPr txBox="1"/>
          <p:nvPr/>
        </p:nvSpPr>
        <p:spPr>
          <a:xfrm>
            <a:off x="5093207" y="3401568"/>
            <a:ext cx="5961888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22850" spcFirstLastPara="1" rIns="22850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8CAE4"/>
                </a:solidFill>
                <a:latin typeface="Arial"/>
                <a:ea typeface="Arial"/>
                <a:cs typeface="Arial"/>
                <a:sym typeface="Arial"/>
              </a:rPr>
              <a:t>Elegir presentación o entrevista y transcribir voz.</a:t>
            </a:r>
            <a:endParaRPr/>
          </a:p>
        </p:txBody>
      </p:sp>
      <p:sp>
        <p:nvSpPr>
          <p:cNvPr id="214" name="Google Shape;214;p6"/>
          <p:cNvSpPr/>
          <p:nvPr/>
        </p:nvSpPr>
        <p:spPr>
          <a:xfrm>
            <a:off x="4892040" y="3858768"/>
            <a:ext cx="6373368" cy="969264"/>
          </a:xfrm>
          <a:prstGeom prst="roundRect">
            <a:avLst>
              <a:gd fmla="val 12000" name="adj"/>
            </a:avLst>
          </a:prstGeom>
          <a:solidFill>
            <a:srgbClr val="17244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6"/>
          <p:cNvSpPr/>
          <p:nvPr/>
        </p:nvSpPr>
        <p:spPr>
          <a:xfrm>
            <a:off x="4892040" y="3858768"/>
            <a:ext cx="50292" cy="969264"/>
          </a:xfrm>
          <a:prstGeom prst="rect">
            <a:avLst/>
          </a:prstGeom>
          <a:solidFill>
            <a:srgbClr val="29C6B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6"/>
          <p:cNvSpPr txBox="1"/>
          <p:nvPr/>
        </p:nvSpPr>
        <p:spPr>
          <a:xfrm>
            <a:off x="5093207" y="4023359"/>
            <a:ext cx="6007607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22850" spcFirstLastPara="1" rIns="22850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7FAFF"/>
                </a:solidFill>
                <a:latin typeface="Arial"/>
                <a:ea typeface="Arial"/>
                <a:cs typeface="Arial"/>
                <a:sym typeface="Arial"/>
              </a:rPr>
              <a:t>Retroalimentación</a:t>
            </a:r>
            <a:endParaRPr/>
          </a:p>
        </p:txBody>
      </p:sp>
      <p:sp>
        <p:nvSpPr>
          <p:cNvPr id="217" name="Google Shape;217;p6"/>
          <p:cNvSpPr txBox="1"/>
          <p:nvPr/>
        </p:nvSpPr>
        <p:spPr>
          <a:xfrm>
            <a:off x="5093207" y="4480559"/>
            <a:ext cx="5961888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22850" spcFirstLastPara="1" rIns="22850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8CAE4"/>
                </a:solidFill>
                <a:latin typeface="Arial"/>
                <a:ea typeface="Arial"/>
                <a:cs typeface="Arial"/>
                <a:sym typeface="Arial"/>
              </a:rPr>
              <a:t>Consultar muletillas, repeticiones y consejos.</a:t>
            </a:r>
            <a:endParaRPr/>
          </a:p>
        </p:txBody>
      </p:sp>
      <p:sp>
        <p:nvSpPr>
          <p:cNvPr id="218" name="Google Shape;218;p6"/>
          <p:cNvSpPr/>
          <p:nvPr/>
        </p:nvSpPr>
        <p:spPr>
          <a:xfrm>
            <a:off x="4892040" y="4937760"/>
            <a:ext cx="6373368" cy="969264"/>
          </a:xfrm>
          <a:prstGeom prst="roundRect">
            <a:avLst>
              <a:gd fmla="val 12000" name="adj"/>
            </a:avLst>
          </a:prstGeom>
          <a:solidFill>
            <a:srgbClr val="17244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6"/>
          <p:cNvSpPr/>
          <p:nvPr/>
        </p:nvSpPr>
        <p:spPr>
          <a:xfrm>
            <a:off x="4892040" y="4937760"/>
            <a:ext cx="50292" cy="969264"/>
          </a:xfrm>
          <a:prstGeom prst="rect">
            <a:avLst/>
          </a:prstGeom>
          <a:solidFill>
            <a:srgbClr val="345BA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6"/>
          <p:cNvSpPr txBox="1"/>
          <p:nvPr/>
        </p:nvSpPr>
        <p:spPr>
          <a:xfrm>
            <a:off x="5093207" y="5102352"/>
            <a:ext cx="6007607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22850" spcFirstLastPara="1" rIns="22850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7FAFF"/>
                </a:solidFill>
                <a:latin typeface="Arial"/>
                <a:ea typeface="Arial"/>
                <a:cs typeface="Arial"/>
                <a:sym typeface="Arial"/>
              </a:rPr>
              <a:t>Seguimiento</a:t>
            </a:r>
            <a:endParaRPr/>
          </a:p>
        </p:txBody>
      </p:sp>
      <p:sp>
        <p:nvSpPr>
          <p:cNvPr id="221" name="Google Shape;221;p6"/>
          <p:cNvSpPr txBox="1"/>
          <p:nvPr/>
        </p:nvSpPr>
        <p:spPr>
          <a:xfrm>
            <a:off x="5093207" y="5559552"/>
            <a:ext cx="5961888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22850" spcFirstLastPara="1" rIns="22850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8CAE4"/>
                </a:solidFill>
                <a:latin typeface="Arial"/>
                <a:ea typeface="Arial"/>
                <a:cs typeface="Arial"/>
                <a:sym typeface="Arial"/>
              </a:rPr>
              <a:t>Guardar y revisar conversaciones anteriores.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939"/>
        </a:solidFill>
      </p:bgPr>
    </p:bg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7"/>
          <p:cNvSpPr/>
          <p:nvPr/>
        </p:nvSpPr>
        <p:spPr>
          <a:xfrm>
            <a:off x="530352" y="438912"/>
            <a:ext cx="68580" cy="566928"/>
          </a:xfrm>
          <a:prstGeom prst="rect">
            <a:avLst/>
          </a:prstGeom>
          <a:solidFill>
            <a:srgbClr val="29C6B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7"/>
          <p:cNvSpPr txBox="1"/>
          <p:nvPr/>
        </p:nvSpPr>
        <p:spPr>
          <a:xfrm>
            <a:off x="758952" y="384048"/>
            <a:ext cx="10424160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22850" spcFirstLastPara="1" rIns="22850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7FAFF"/>
                </a:solidFill>
                <a:latin typeface="Arial"/>
                <a:ea typeface="Arial"/>
                <a:cs typeface="Arial"/>
                <a:sym typeface="Arial"/>
              </a:rPr>
              <a:t>06 · Backlog</a:t>
            </a:r>
            <a:endParaRPr/>
          </a:p>
        </p:txBody>
      </p:sp>
      <p:sp>
        <p:nvSpPr>
          <p:cNvPr id="228" name="Google Shape;228;p7"/>
          <p:cNvSpPr txBox="1"/>
          <p:nvPr/>
        </p:nvSpPr>
        <p:spPr>
          <a:xfrm>
            <a:off x="786384" y="1005840"/>
            <a:ext cx="107899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22850" spcFirstLastPara="1" rIns="22850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B8CAE4"/>
                </a:solidFill>
                <a:latin typeface="Arial"/>
                <a:ea typeface="Arial"/>
                <a:cs typeface="Arial"/>
                <a:sym typeface="Arial"/>
              </a:rPr>
              <a:t>Priorización del trabajo y estado de implementación</a:t>
            </a:r>
            <a:endParaRPr/>
          </a:p>
        </p:txBody>
      </p:sp>
      <p:sp>
        <p:nvSpPr>
          <p:cNvPr id="229" name="Google Shape;229;p7"/>
          <p:cNvSpPr/>
          <p:nvPr/>
        </p:nvSpPr>
        <p:spPr>
          <a:xfrm>
            <a:off x="749808" y="6345936"/>
            <a:ext cx="10652760" cy="11887"/>
          </a:xfrm>
          <a:prstGeom prst="rect">
            <a:avLst/>
          </a:prstGeom>
          <a:solidFill>
            <a:srgbClr val="33456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7"/>
          <p:cNvSpPr/>
          <p:nvPr/>
        </p:nvSpPr>
        <p:spPr>
          <a:xfrm>
            <a:off x="941832" y="1783080"/>
            <a:ext cx="2962656" cy="1993392"/>
          </a:xfrm>
          <a:prstGeom prst="roundRect">
            <a:avLst>
              <a:gd fmla="val 13000" name="adj"/>
            </a:avLst>
          </a:prstGeom>
          <a:solidFill>
            <a:srgbClr val="17244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7"/>
          <p:cNvSpPr txBox="1"/>
          <p:nvPr/>
        </p:nvSpPr>
        <p:spPr>
          <a:xfrm>
            <a:off x="1124712" y="1947672"/>
            <a:ext cx="2596896" cy="804672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22850" spcFirstLastPara="1" rIns="22850" wrap="square" tIns="13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300" u="none" cap="none" strike="noStrike">
                <a:solidFill>
                  <a:srgbClr val="29C6BE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/>
          </a:p>
        </p:txBody>
      </p:sp>
      <p:sp>
        <p:nvSpPr>
          <p:cNvPr id="232" name="Google Shape;232;p7"/>
          <p:cNvSpPr txBox="1"/>
          <p:nvPr/>
        </p:nvSpPr>
        <p:spPr>
          <a:xfrm>
            <a:off x="1060704" y="2999232"/>
            <a:ext cx="2743200" cy="429768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22850" spcFirstLastPara="1" rIns="22850" wrap="square" tIns="13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7FAFF"/>
                </a:solidFill>
                <a:latin typeface="Arial"/>
                <a:ea typeface="Arial"/>
                <a:cs typeface="Arial"/>
                <a:sym typeface="Arial"/>
              </a:rPr>
              <a:t>Implementados</a:t>
            </a:r>
            <a:endParaRPr/>
          </a:p>
        </p:txBody>
      </p:sp>
      <p:sp>
        <p:nvSpPr>
          <p:cNvPr id="233" name="Google Shape;233;p7"/>
          <p:cNvSpPr/>
          <p:nvPr/>
        </p:nvSpPr>
        <p:spPr>
          <a:xfrm>
            <a:off x="4626864" y="1783080"/>
            <a:ext cx="2962656" cy="1993392"/>
          </a:xfrm>
          <a:prstGeom prst="roundRect">
            <a:avLst>
              <a:gd fmla="val 13000" name="adj"/>
            </a:avLst>
          </a:prstGeom>
          <a:solidFill>
            <a:srgbClr val="17244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7"/>
          <p:cNvSpPr txBox="1"/>
          <p:nvPr/>
        </p:nvSpPr>
        <p:spPr>
          <a:xfrm>
            <a:off x="4809744" y="1947672"/>
            <a:ext cx="2596896" cy="804672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22850" spcFirstLastPara="1" rIns="22850" wrap="square" tIns="13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300" u="none" cap="none" strike="noStrike">
                <a:solidFill>
                  <a:srgbClr val="F1B967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235" name="Google Shape;235;p7"/>
          <p:cNvSpPr txBox="1"/>
          <p:nvPr/>
        </p:nvSpPr>
        <p:spPr>
          <a:xfrm>
            <a:off x="4745736" y="2999232"/>
            <a:ext cx="2743200" cy="429768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22850" spcFirstLastPara="1" rIns="22850" wrap="square" tIns="13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7FAFF"/>
                </a:solidFill>
                <a:latin typeface="Arial"/>
                <a:ea typeface="Arial"/>
                <a:cs typeface="Arial"/>
                <a:sym typeface="Arial"/>
              </a:rPr>
              <a:t>Verificación parcial</a:t>
            </a:r>
            <a:endParaRPr/>
          </a:p>
        </p:txBody>
      </p:sp>
      <p:sp>
        <p:nvSpPr>
          <p:cNvPr id="236" name="Google Shape;236;p7"/>
          <p:cNvSpPr/>
          <p:nvPr/>
        </p:nvSpPr>
        <p:spPr>
          <a:xfrm>
            <a:off x="8311896" y="1783080"/>
            <a:ext cx="2962656" cy="1993392"/>
          </a:xfrm>
          <a:prstGeom prst="roundRect">
            <a:avLst>
              <a:gd fmla="val 13000" name="adj"/>
            </a:avLst>
          </a:prstGeom>
          <a:solidFill>
            <a:srgbClr val="17244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7"/>
          <p:cNvSpPr txBox="1"/>
          <p:nvPr/>
        </p:nvSpPr>
        <p:spPr>
          <a:xfrm>
            <a:off x="8494776" y="1947672"/>
            <a:ext cx="2596896" cy="804672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22850" spcFirstLastPara="1" rIns="22850" wrap="square" tIns="13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300" u="none" cap="none" strike="noStrike">
                <a:solidFill>
                  <a:srgbClr val="345BA4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  <p:sp>
        <p:nvSpPr>
          <p:cNvPr id="238" name="Google Shape;238;p7"/>
          <p:cNvSpPr txBox="1"/>
          <p:nvPr/>
        </p:nvSpPr>
        <p:spPr>
          <a:xfrm>
            <a:off x="8430768" y="2999232"/>
            <a:ext cx="2743200" cy="429768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22850" spcFirstLastPara="1" rIns="22850" wrap="square" tIns="13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7FAFF"/>
                </a:solidFill>
                <a:latin typeface="Arial"/>
                <a:ea typeface="Arial"/>
                <a:cs typeface="Arial"/>
                <a:sym typeface="Arial"/>
              </a:rPr>
              <a:t>Pendientes o por evaluar</a:t>
            </a:r>
            <a:endParaRPr/>
          </a:p>
        </p:txBody>
      </p:sp>
      <p:sp>
        <p:nvSpPr>
          <p:cNvPr id="239" name="Google Shape;239;p7"/>
          <p:cNvSpPr/>
          <p:nvPr/>
        </p:nvSpPr>
        <p:spPr>
          <a:xfrm>
            <a:off x="950976" y="4169663"/>
            <a:ext cx="4983480" cy="1463040"/>
          </a:xfrm>
          <a:prstGeom prst="roundRect">
            <a:avLst>
              <a:gd fmla="val 12000" name="adj"/>
            </a:avLst>
          </a:prstGeom>
          <a:solidFill>
            <a:srgbClr val="17244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7"/>
          <p:cNvSpPr/>
          <p:nvPr/>
        </p:nvSpPr>
        <p:spPr>
          <a:xfrm>
            <a:off x="950976" y="4169663"/>
            <a:ext cx="50292" cy="1463040"/>
          </a:xfrm>
          <a:prstGeom prst="rect">
            <a:avLst/>
          </a:prstGeom>
          <a:solidFill>
            <a:srgbClr val="29C6B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7"/>
          <p:cNvSpPr txBox="1"/>
          <p:nvPr/>
        </p:nvSpPr>
        <p:spPr>
          <a:xfrm>
            <a:off x="1152144" y="4334255"/>
            <a:ext cx="4617720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22850" spcFirstLastPara="1" rIns="22850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7FAFF"/>
                </a:solidFill>
                <a:latin typeface="Arial"/>
                <a:ea typeface="Arial"/>
                <a:cs typeface="Arial"/>
                <a:sym typeface="Arial"/>
              </a:rPr>
              <a:t>Ya desarrollado</a:t>
            </a:r>
            <a:endParaRPr/>
          </a:p>
        </p:txBody>
      </p:sp>
      <p:sp>
        <p:nvSpPr>
          <p:cNvPr id="242" name="Google Shape;242;p7"/>
          <p:cNvSpPr txBox="1"/>
          <p:nvPr/>
        </p:nvSpPr>
        <p:spPr>
          <a:xfrm>
            <a:off x="1152144" y="4791455"/>
            <a:ext cx="45720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22850" spcFirstLastPara="1" rIns="22850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B8CAE4"/>
                </a:solidFill>
                <a:latin typeface="Arial"/>
                <a:ea typeface="Arial"/>
                <a:cs typeface="Arial"/>
                <a:sym typeface="Arial"/>
              </a:rPr>
              <a:t>Acceso, reconocimiento, análisis, recomendaciones, guardado e historial.</a:t>
            </a:r>
            <a:endParaRPr/>
          </a:p>
        </p:txBody>
      </p:sp>
      <p:sp>
        <p:nvSpPr>
          <p:cNvPr id="243" name="Google Shape;243;p7"/>
          <p:cNvSpPr/>
          <p:nvPr/>
        </p:nvSpPr>
        <p:spPr>
          <a:xfrm>
            <a:off x="6172200" y="4169663"/>
            <a:ext cx="5010912" cy="1463040"/>
          </a:xfrm>
          <a:prstGeom prst="roundRect">
            <a:avLst>
              <a:gd fmla="val 12000" name="adj"/>
            </a:avLst>
          </a:prstGeom>
          <a:solidFill>
            <a:srgbClr val="17244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7"/>
          <p:cNvSpPr/>
          <p:nvPr/>
        </p:nvSpPr>
        <p:spPr>
          <a:xfrm>
            <a:off x="6172200" y="4169663"/>
            <a:ext cx="50292" cy="1463040"/>
          </a:xfrm>
          <a:prstGeom prst="rect">
            <a:avLst/>
          </a:prstGeom>
          <a:solidFill>
            <a:srgbClr val="F1B96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7"/>
          <p:cNvSpPr txBox="1"/>
          <p:nvPr/>
        </p:nvSpPr>
        <p:spPr>
          <a:xfrm>
            <a:off x="6373368" y="4334255"/>
            <a:ext cx="4645152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22850" spcFirstLastPara="1" rIns="22850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7FAFF"/>
                </a:solidFill>
                <a:latin typeface="Arial"/>
                <a:ea typeface="Arial"/>
                <a:cs typeface="Arial"/>
                <a:sym typeface="Arial"/>
              </a:rPr>
              <a:t>Próximas mejoras</a:t>
            </a:r>
            <a:endParaRPr/>
          </a:p>
        </p:txBody>
      </p:sp>
      <p:sp>
        <p:nvSpPr>
          <p:cNvPr id="246" name="Google Shape;246;p7"/>
          <p:cNvSpPr txBox="1"/>
          <p:nvPr/>
        </p:nvSpPr>
        <p:spPr>
          <a:xfrm>
            <a:off x="6373368" y="4791455"/>
            <a:ext cx="4599432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22850" spcFirstLastPara="1" rIns="22850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B8CAE4"/>
                </a:solidFill>
                <a:latin typeface="Arial"/>
                <a:ea typeface="Arial"/>
                <a:cs typeface="Arial"/>
                <a:sym typeface="Arial"/>
              </a:rPr>
              <a:t>Seguridad, interfaz, documentación de pruebas y cámara como propuesta futura.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939"/>
        </a:solid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1" name="Google Shape;251;p8"/>
          <p:cNvCxnSpPr/>
          <p:nvPr/>
        </p:nvCxnSpPr>
        <p:spPr>
          <a:xfrm>
            <a:off x="2816352" y="3657600"/>
            <a:ext cx="4151376" cy="1033272"/>
          </a:xfrm>
          <a:prstGeom prst="straightConnector1">
            <a:avLst/>
          </a:prstGeom>
          <a:noFill/>
          <a:ln cap="flat" cmpd="sng" w="19050">
            <a:solidFill>
              <a:srgbClr val="526C9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252" name="Google Shape;252;p8"/>
          <p:cNvCxnSpPr/>
          <p:nvPr/>
        </p:nvCxnSpPr>
        <p:spPr>
          <a:xfrm flipH="1" rot="10800000">
            <a:off x="2816352" y="3465576"/>
            <a:ext cx="4151376" cy="192024"/>
          </a:xfrm>
          <a:prstGeom prst="straightConnector1">
            <a:avLst/>
          </a:prstGeom>
          <a:noFill/>
          <a:ln cap="flat" cmpd="sng" w="19050">
            <a:solidFill>
              <a:srgbClr val="526C9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253" name="Google Shape;253;p8"/>
          <p:cNvCxnSpPr/>
          <p:nvPr/>
        </p:nvCxnSpPr>
        <p:spPr>
          <a:xfrm flipH="1" rot="10800000">
            <a:off x="2816352" y="2240280"/>
            <a:ext cx="4151376" cy="1417320"/>
          </a:xfrm>
          <a:prstGeom prst="straightConnector1">
            <a:avLst/>
          </a:prstGeom>
          <a:noFill/>
          <a:ln cap="flat" cmpd="sng" w="19050">
            <a:solidFill>
              <a:srgbClr val="526C9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54" name="Google Shape;254;p8"/>
          <p:cNvSpPr/>
          <p:nvPr/>
        </p:nvSpPr>
        <p:spPr>
          <a:xfrm>
            <a:off x="530352" y="438912"/>
            <a:ext cx="68580" cy="566928"/>
          </a:xfrm>
          <a:prstGeom prst="rect">
            <a:avLst/>
          </a:prstGeom>
          <a:solidFill>
            <a:srgbClr val="29C6B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8"/>
          <p:cNvSpPr txBox="1"/>
          <p:nvPr/>
        </p:nvSpPr>
        <p:spPr>
          <a:xfrm>
            <a:off x="758952" y="384048"/>
            <a:ext cx="10424160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22850" spcFirstLastPara="1" rIns="22850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7FAFF"/>
                </a:solidFill>
                <a:latin typeface="Arial"/>
                <a:ea typeface="Arial"/>
                <a:cs typeface="Arial"/>
                <a:sym typeface="Arial"/>
              </a:rPr>
              <a:t>07 · Casos de uso UML</a:t>
            </a:r>
            <a:endParaRPr/>
          </a:p>
        </p:txBody>
      </p:sp>
      <p:sp>
        <p:nvSpPr>
          <p:cNvPr id="256" name="Google Shape;256;p8"/>
          <p:cNvSpPr txBox="1"/>
          <p:nvPr/>
        </p:nvSpPr>
        <p:spPr>
          <a:xfrm>
            <a:off x="786384" y="1005840"/>
            <a:ext cx="107899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22850" spcFirstLastPara="1" rIns="22850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B8CAE4"/>
                </a:solidFill>
                <a:latin typeface="Arial"/>
                <a:ea typeface="Arial"/>
                <a:cs typeface="Arial"/>
                <a:sym typeface="Arial"/>
              </a:rPr>
              <a:t>Interacciones principales entre el usuario y SpeakUP</a:t>
            </a:r>
            <a:endParaRPr/>
          </a:p>
        </p:txBody>
      </p:sp>
      <p:sp>
        <p:nvSpPr>
          <p:cNvPr id="257" name="Google Shape;257;p8"/>
          <p:cNvSpPr/>
          <p:nvPr/>
        </p:nvSpPr>
        <p:spPr>
          <a:xfrm>
            <a:off x="749808" y="6345936"/>
            <a:ext cx="10652760" cy="11887"/>
          </a:xfrm>
          <a:prstGeom prst="rect">
            <a:avLst/>
          </a:prstGeom>
          <a:solidFill>
            <a:srgbClr val="33456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8"/>
          <p:cNvSpPr/>
          <p:nvPr/>
        </p:nvSpPr>
        <p:spPr>
          <a:xfrm>
            <a:off x="832104" y="1719072"/>
            <a:ext cx="1984248" cy="4206240"/>
          </a:xfrm>
          <a:prstGeom prst="roundRect">
            <a:avLst>
              <a:gd fmla="val 10000" name="adj"/>
            </a:avLst>
          </a:prstGeom>
          <a:solidFill>
            <a:srgbClr val="17244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8"/>
          <p:cNvSpPr txBox="1"/>
          <p:nvPr/>
        </p:nvSpPr>
        <p:spPr>
          <a:xfrm>
            <a:off x="1115568" y="2029968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22850" spcFirstLastPara="1" rIns="22850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29C6BE"/>
                </a:solidFill>
                <a:latin typeface="Arial"/>
                <a:ea typeface="Arial"/>
                <a:cs typeface="Arial"/>
                <a:sym typeface="Arial"/>
              </a:rPr>
              <a:t>ACTOR</a:t>
            </a:r>
            <a:endParaRPr/>
          </a:p>
        </p:txBody>
      </p:sp>
      <p:sp>
        <p:nvSpPr>
          <p:cNvPr id="260" name="Google Shape;260;p8"/>
          <p:cNvSpPr txBox="1"/>
          <p:nvPr/>
        </p:nvSpPr>
        <p:spPr>
          <a:xfrm>
            <a:off x="1106424" y="3072384"/>
            <a:ext cx="1371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22850" spcFirstLastPara="1" rIns="22850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7FAFF"/>
                </a:solidFill>
                <a:latin typeface="Arial"/>
                <a:ea typeface="Arial"/>
                <a:cs typeface="Arial"/>
                <a:sym typeface="Arial"/>
              </a:rPr>
              <a:t>Usuario</a:t>
            </a:r>
            <a:endParaRPr/>
          </a:p>
        </p:txBody>
      </p:sp>
      <p:sp>
        <p:nvSpPr>
          <p:cNvPr id="261" name="Google Shape;261;p8"/>
          <p:cNvSpPr/>
          <p:nvPr/>
        </p:nvSpPr>
        <p:spPr>
          <a:xfrm>
            <a:off x="3182112" y="1847088"/>
            <a:ext cx="3172968" cy="786384"/>
          </a:xfrm>
          <a:prstGeom prst="ellipse">
            <a:avLst/>
          </a:prstGeom>
          <a:solidFill>
            <a:srgbClr val="20335D"/>
          </a:solidFill>
          <a:ln cap="flat" cmpd="sng" w="9525">
            <a:solidFill>
              <a:srgbClr val="29C6B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8"/>
          <p:cNvSpPr txBox="1"/>
          <p:nvPr/>
        </p:nvSpPr>
        <p:spPr>
          <a:xfrm>
            <a:off x="3319272" y="2075688"/>
            <a:ext cx="2898648" cy="356616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22850" spcFirstLastPara="1" rIns="22850" wrap="square" tIns="13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7FAFF"/>
                </a:solidFill>
                <a:latin typeface="Arial"/>
                <a:ea typeface="Arial"/>
                <a:cs typeface="Arial"/>
                <a:sym typeface="Arial"/>
              </a:rPr>
              <a:t>Iniciar sesión</a:t>
            </a:r>
            <a:endParaRPr/>
          </a:p>
        </p:txBody>
      </p:sp>
      <p:sp>
        <p:nvSpPr>
          <p:cNvPr id="263" name="Google Shape;263;p8"/>
          <p:cNvSpPr/>
          <p:nvPr/>
        </p:nvSpPr>
        <p:spPr>
          <a:xfrm>
            <a:off x="6986016" y="1847088"/>
            <a:ext cx="3172968" cy="786384"/>
          </a:xfrm>
          <a:prstGeom prst="ellipse">
            <a:avLst/>
          </a:prstGeom>
          <a:solidFill>
            <a:srgbClr val="20335D"/>
          </a:solidFill>
          <a:ln cap="flat" cmpd="sng" w="9525">
            <a:solidFill>
              <a:srgbClr val="29C6B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8"/>
          <p:cNvSpPr txBox="1"/>
          <p:nvPr/>
        </p:nvSpPr>
        <p:spPr>
          <a:xfrm>
            <a:off x="7123176" y="2075688"/>
            <a:ext cx="2898648" cy="356616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22850" spcFirstLastPara="1" rIns="22850" wrap="square" tIns="13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7FAFF"/>
                </a:solidFill>
                <a:latin typeface="Arial"/>
                <a:ea typeface="Arial"/>
                <a:cs typeface="Arial"/>
                <a:sym typeface="Arial"/>
              </a:rPr>
              <a:t>Elegir situación</a:t>
            </a:r>
            <a:endParaRPr/>
          </a:p>
        </p:txBody>
      </p:sp>
      <p:sp>
        <p:nvSpPr>
          <p:cNvPr id="265" name="Google Shape;265;p8"/>
          <p:cNvSpPr/>
          <p:nvPr/>
        </p:nvSpPr>
        <p:spPr>
          <a:xfrm>
            <a:off x="3182112" y="3072384"/>
            <a:ext cx="3172968" cy="786384"/>
          </a:xfrm>
          <a:prstGeom prst="ellipse">
            <a:avLst/>
          </a:prstGeom>
          <a:solidFill>
            <a:srgbClr val="20335D"/>
          </a:solidFill>
          <a:ln cap="flat" cmpd="sng" w="9525">
            <a:solidFill>
              <a:srgbClr val="29C6B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8"/>
          <p:cNvSpPr txBox="1"/>
          <p:nvPr/>
        </p:nvSpPr>
        <p:spPr>
          <a:xfrm>
            <a:off x="3319272" y="3300984"/>
            <a:ext cx="2898648" cy="356616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22850" spcFirstLastPara="1" rIns="22850" wrap="square" tIns="13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7FAFF"/>
                </a:solidFill>
                <a:latin typeface="Arial"/>
                <a:ea typeface="Arial"/>
                <a:cs typeface="Arial"/>
                <a:sym typeface="Arial"/>
              </a:rPr>
              <a:t>Realizar práctica</a:t>
            </a:r>
            <a:endParaRPr/>
          </a:p>
        </p:txBody>
      </p:sp>
      <p:sp>
        <p:nvSpPr>
          <p:cNvPr id="267" name="Google Shape;267;p8"/>
          <p:cNvSpPr/>
          <p:nvPr/>
        </p:nvSpPr>
        <p:spPr>
          <a:xfrm>
            <a:off x="6986016" y="3072384"/>
            <a:ext cx="3172968" cy="786384"/>
          </a:xfrm>
          <a:prstGeom prst="ellipse">
            <a:avLst/>
          </a:prstGeom>
          <a:solidFill>
            <a:srgbClr val="20335D"/>
          </a:solidFill>
          <a:ln cap="flat" cmpd="sng" w="9525">
            <a:solidFill>
              <a:srgbClr val="29C6B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8"/>
          <p:cNvSpPr txBox="1"/>
          <p:nvPr/>
        </p:nvSpPr>
        <p:spPr>
          <a:xfrm>
            <a:off x="7123176" y="3300984"/>
            <a:ext cx="2898648" cy="356616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22850" spcFirstLastPara="1" rIns="22850" wrap="square" tIns="13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7FAFF"/>
                </a:solidFill>
                <a:latin typeface="Arial"/>
                <a:ea typeface="Arial"/>
                <a:cs typeface="Arial"/>
                <a:sym typeface="Arial"/>
              </a:rPr>
              <a:t>Analizar discurso</a:t>
            </a:r>
            <a:endParaRPr/>
          </a:p>
        </p:txBody>
      </p:sp>
      <p:sp>
        <p:nvSpPr>
          <p:cNvPr id="269" name="Google Shape;269;p8"/>
          <p:cNvSpPr/>
          <p:nvPr/>
        </p:nvSpPr>
        <p:spPr>
          <a:xfrm>
            <a:off x="3182112" y="4297680"/>
            <a:ext cx="3172968" cy="786384"/>
          </a:xfrm>
          <a:prstGeom prst="ellipse">
            <a:avLst/>
          </a:prstGeom>
          <a:solidFill>
            <a:srgbClr val="20335D"/>
          </a:solidFill>
          <a:ln cap="flat" cmpd="sng" w="9525">
            <a:solidFill>
              <a:srgbClr val="29C6B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8"/>
          <p:cNvSpPr txBox="1"/>
          <p:nvPr/>
        </p:nvSpPr>
        <p:spPr>
          <a:xfrm>
            <a:off x="3319272" y="4526280"/>
            <a:ext cx="2898648" cy="356616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22850" spcFirstLastPara="1" rIns="22850" wrap="square" tIns="13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7FAFF"/>
                </a:solidFill>
                <a:latin typeface="Arial"/>
                <a:ea typeface="Arial"/>
                <a:cs typeface="Arial"/>
                <a:sym typeface="Arial"/>
              </a:rPr>
              <a:t>Guardar práctica</a:t>
            </a:r>
            <a:endParaRPr/>
          </a:p>
        </p:txBody>
      </p:sp>
      <p:sp>
        <p:nvSpPr>
          <p:cNvPr id="271" name="Google Shape;271;p8"/>
          <p:cNvSpPr/>
          <p:nvPr/>
        </p:nvSpPr>
        <p:spPr>
          <a:xfrm>
            <a:off x="6986016" y="4297680"/>
            <a:ext cx="3172968" cy="786384"/>
          </a:xfrm>
          <a:prstGeom prst="ellipse">
            <a:avLst/>
          </a:prstGeom>
          <a:solidFill>
            <a:srgbClr val="20335D"/>
          </a:solidFill>
          <a:ln cap="flat" cmpd="sng" w="9525">
            <a:solidFill>
              <a:srgbClr val="29C6B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8"/>
          <p:cNvSpPr txBox="1"/>
          <p:nvPr/>
        </p:nvSpPr>
        <p:spPr>
          <a:xfrm>
            <a:off x="7123176" y="4526280"/>
            <a:ext cx="2898648" cy="356616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22850" spcFirstLastPara="1" rIns="22850" wrap="square" tIns="13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7FAFF"/>
                </a:solidFill>
                <a:latin typeface="Arial"/>
                <a:ea typeface="Arial"/>
                <a:cs typeface="Arial"/>
                <a:sym typeface="Arial"/>
              </a:rPr>
              <a:t>Consultar historial</a:t>
            </a:r>
            <a:endParaRPr/>
          </a:p>
        </p:txBody>
      </p:sp>
      <p:cxnSp>
        <p:nvCxnSpPr>
          <p:cNvPr id="273" name="Google Shape;273;p8"/>
          <p:cNvCxnSpPr/>
          <p:nvPr/>
        </p:nvCxnSpPr>
        <p:spPr>
          <a:xfrm flipH="1" rot="10800000">
            <a:off x="2816352" y="2240280"/>
            <a:ext cx="356616" cy="1417320"/>
          </a:xfrm>
          <a:prstGeom prst="straightConnector1">
            <a:avLst/>
          </a:prstGeom>
          <a:noFill/>
          <a:ln cap="flat" cmpd="sng" w="19050">
            <a:solidFill>
              <a:srgbClr val="526C9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274" name="Google Shape;274;p8"/>
          <p:cNvCxnSpPr/>
          <p:nvPr/>
        </p:nvCxnSpPr>
        <p:spPr>
          <a:xfrm flipH="1" rot="10800000">
            <a:off x="2816352" y="3465576"/>
            <a:ext cx="356616" cy="192024"/>
          </a:xfrm>
          <a:prstGeom prst="straightConnector1">
            <a:avLst/>
          </a:prstGeom>
          <a:noFill/>
          <a:ln cap="flat" cmpd="sng" w="19050">
            <a:solidFill>
              <a:srgbClr val="526C9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275" name="Google Shape;275;p8"/>
          <p:cNvCxnSpPr/>
          <p:nvPr/>
        </p:nvCxnSpPr>
        <p:spPr>
          <a:xfrm>
            <a:off x="2816352" y="3657600"/>
            <a:ext cx="356616" cy="1033272"/>
          </a:xfrm>
          <a:prstGeom prst="straightConnector1">
            <a:avLst/>
          </a:prstGeom>
          <a:noFill/>
          <a:ln cap="flat" cmpd="sng" w="19050">
            <a:solidFill>
              <a:srgbClr val="526C9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939"/>
        </a:solidFill>
      </p:bgPr>
    </p:bg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9"/>
          <p:cNvSpPr/>
          <p:nvPr/>
        </p:nvSpPr>
        <p:spPr>
          <a:xfrm>
            <a:off x="530352" y="438912"/>
            <a:ext cx="68580" cy="566928"/>
          </a:xfrm>
          <a:prstGeom prst="rect">
            <a:avLst/>
          </a:prstGeom>
          <a:solidFill>
            <a:srgbClr val="29C6B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9"/>
          <p:cNvSpPr txBox="1"/>
          <p:nvPr/>
        </p:nvSpPr>
        <p:spPr>
          <a:xfrm>
            <a:off x="758952" y="384048"/>
            <a:ext cx="10424160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22850" spcFirstLastPara="1" rIns="22850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7FAFF"/>
                </a:solidFill>
                <a:latin typeface="Arial"/>
                <a:ea typeface="Arial"/>
                <a:cs typeface="Arial"/>
                <a:sym typeface="Arial"/>
              </a:rPr>
              <a:t>08 · Modelo arquitectónico 4+1</a:t>
            </a:r>
            <a:endParaRPr/>
          </a:p>
        </p:txBody>
      </p:sp>
      <p:sp>
        <p:nvSpPr>
          <p:cNvPr id="282" name="Google Shape;282;p9"/>
          <p:cNvSpPr txBox="1"/>
          <p:nvPr/>
        </p:nvSpPr>
        <p:spPr>
          <a:xfrm>
            <a:off x="786384" y="1005840"/>
            <a:ext cx="107899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22850" spcFirstLastPara="1" rIns="22850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B8CAE4"/>
                </a:solidFill>
                <a:latin typeface="Arial"/>
                <a:ea typeface="Arial"/>
                <a:cs typeface="Arial"/>
                <a:sym typeface="Arial"/>
              </a:rPr>
              <a:t>Cinco perspectivas para explicar y validar la solución implementada</a:t>
            </a:r>
            <a:endParaRPr/>
          </a:p>
        </p:txBody>
      </p:sp>
      <p:sp>
        <p:nvSpPr>
          <p:cNvPr id="283" name="Google Shape;283;p9"/>
          <p:cNvSpPr/>
          <p:nvPr/>
        </p:nvSpPr>
        <p:spPr>
          <a:xfrm>
            <a:off x="749808" y="6345936"/>
            <a:ext cx="10652760" cy="11887"/>
          </a:xfrm>
          <a:prstGeom prst="rect">
            <a:avLst/>
          </a:prstGeom>
          <a:solidFill>
            <a:srgbClr val="33456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9"/>
          <p:cNvSpPr/>
          <p:nvPr/>
        </p:nvSpPr>
        <p:spPr>
          <a:xfrm>
            <a:off x="987552" y="1828800"/>
            <a:ext cx="3154680" cy="1152144"/>
          </a:xfrm>
          <a:prstGeom prst="roundRect">
            <a:avLst>
              <a:gd fmla="val 12000" name="adj"/>
            </a:avLst>
          </a:prstGeom>
          <a:solidFill>
            <a:srgbClr val="17244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9"/>
          <p:cNvSpPr txBox="1"/>
          <p:nvPr/>
        </p:nvSpPr>
        <p:spPr>
          <a:xfrm>
            <a:off x="1143000" y="1965960"/>
            <a:ext cx="28346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22850" spcFirstLastPara="1" rIns="22850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29C6BE"/>
                </a:solidFill>
                <a:latin typeface="Arial"/>
                <a:ea typeface="Arial"/>
                <a:cs typeface="Arial"/>
                <a:sym typeface="Arial"/>
              </a:rPr>
              <a:t>LÓGICA</a:t>
            </a:r>
            <a:endParaRPr/>
          </a:p>
        </p:txBody>
      </p:sp>
      <p:sp>
        <p:nvSpPr>
          <p:cNvPr id="286" name="Google Shape;286;p9"/>
          <p:cNvSpPr txBox="1"/>
          <p:nvPr/>
        </p:nvSpPr>
        <p:spPr>
          <a:xfrm>
            <a:off x="1143000" y="2423160"/>
            <a:ext cx="28346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22850" spcFirstLastPara="1" rIns="22850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B8CAE4"/>
                </a:solidFill>
                <a:latin typeface="Arial"/>
                <a:ea typeface="Arial"/>
                <a:cs typeface="Arial"/>
                <a:sym typeface="Arial"/>
              </a:rPr>
              <a:t>Módulos y datos</a:t>
            </a:r>
            <a:endParaRPr/>
          </a:p>
        </p:txBody>
      </p:sp>
      <p:sp>
        <p:nvSpPr>
          <p:cNvPr id="287" name="Google Shape;287;p9"/>
          <p:cNvSpPr/>
          <p:nvPr/>
        </p:nvSpPr>
        <p:spPr>
          <a:xfrm>
            <a:off x="8046720" y="1828800"/>
            <a:ext cx="3154680" cy="1152144"/>
          </a:xfrm>
          <a:prstGeom prst="roundRect">
            <a:avLst>
              <a:gd fmla="val 12000" name="adj"/>
            </a:avLst>
          </a:prstGeom>
          <a:solidFill>
            <a:srgbClr val="17244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9"/>
          <p:cNvSpPr txBox="1"/>
          <p:nvPr/>
        </p:nvSpPr>
        <p:spPr>
          <a:xfrm>
            <a:off x="8202168" y="1965960"/>
            <a:ext cx="28346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22850" spcFirstLastPara="1" rIns="22850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29C6BE"/>
                </a:solidFill>
                <a:latin typeface="Arial"/>
                <a:ea typeface="Arial"/>
                <a:cs typeface="Arial"/>
                <a:sym typeface="Arial"/>
              </a:rPr>
              <a:t>DESARROLLO</a:t>
            </a:r>
            <a:endParaRPr/>
          </a:p>
        </p:txBody>
      </p:sp>
      <p:sp>
        <p:nvSpPr>
          <p:cNvPr id="289" name="Google Shape;289;p9"/>
          <p:cNvSpPr txBox="1"/>
          <p:nvPr/>
        </p:nvSpPr>
        <p:spPr>
          <a:xfrm>
            <a:off x="8202168" y="2423160"/>
            <a:ext cx="28346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22850" spcFirstLastPara="1" rIns="22850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B8CAE4"/>
                </a:solidFill>
                <a:latin typeface="Arial"/>
                <a:ea typeface="Arial"/>
                <a:cs typeface="Arial"/>
                <a:sym typeface="Arial"/>
              </a:rPr>
              <a:t>Código Django y JS</a:t>
            </a:r>
            <a:endParaRPr/>
          </a:p>
        </p:txBody>
      </p:sp>
      <p:sp>
        <p:nvSpPr>
          <p:cNvPr id="290" name="Google Shape;290;p9"/>
          <p:cNvSpPr/>
          <p:nvPr/>
        </p:nvSpPr>
        <p:spPr>
          <a:xfrm>
            <a:off x="987552" y="4297680"/>
            <a:ext cx="3154680" cy="1152144"/>
          </a:xfrm>
          <a:prstGeom prst="roundRect">
            <a:avLst>
              <a:gd fmla="val 12000" name="adj"/>
            </a:avLst>
          </a:prstGeom>
          <a:solidFill>
            <a:srgbClr val="17244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9"/>
          <p:cNvSpPr txBox="1"/>
          <p:nvPr/>
        </p:nvSpPr>
        <p:spPr>
          <a:xfrm>
            <a:off x="1143000" y="4434840"/>
            <a:ext cx="28346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22850" spcFirstLastPara="1" rIns="22850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29C6BE"/>
                </a:solidFill>
                <a:latin typeface="Arial"/>
                <a:ea typeface="Arial"/>
                <a:cs typeface="Arial"/>
                <a:sym typeface="Arial"/>
              </a:rPr>
              <a:t>PROCESOS</a:t>
            </a:r>
            <a:endParaRPr/>
          </a:p>
        </p:txBody>
      </p:sp>
      <p:sp>
        <p:nvSpPr>
          <p:cNvPr id="292" name="Google Shape;292;p9"/>
          <p:cNvSpPr txBox="1"/>
          <p:nvPr/>
        </p:nvSpPr>
        <p:spPr>
          <a:xfrm>
            <a:off x="1143000" y="4892040"/>
            <a:ext cx="28346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22850" spcFirstLastPara="1" rIns="22850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B8CAE4"/>
                </a:solidFill>
                <a:latin typeface="Arial"/>
                <a:ea typeface="Arial"/>
                <a:cs typeface="Arial"/>
                <a:sym typeface="Arial"/>
              </a:rPr>
              <a:t>Flujo de práctica</a:t>
            </a:r>
            <a:endParaRPr/>
          </a:p>
        </p:txBody>
      </p:sp>
      <p:sp>
        <p:nvSpPr>
          <p:cNvPr id="293" name="Google Shape;293;p9"/>
          <p:cNvSpPr/>
          <p:nvPr/>
        </p:nvSpPr>
        <p:spPr>
          <a:xfrm>
            <a:off x="8046720" y="4297680"/>
            <a:ext cx="3154680" cy="1152144"/>
          </a:xfrm>
          <a:prstGeom prst="roundRect">
            <a:avLst>
              <a:gd fmla="val 12000" name="adj"/>
            </a:avLst>
          </a:prstGeom>
          <a:solidFill>
            <a:srgbClr val="17244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9"/>
          <p:cNvSpPr txBox="1"/>
          <p:nvPr/>
        </p:nvSpPr>
        <p:spPr>
          <a:xfrm>
            <a:off x="8202168" y="4434840"/>
            <a:ext cx="28346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22850" spcFirstLastPara="1" rIns="22850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29C6BE"/>
                </a:solidFill>
                <a:latin typeface="Arial"/>
                <a:ea typeface="Arial"/>
                <a:cs typeface="Arial"/>
                <a:sym typeface="Arial"/>
              </a:rPr>
              <a:t>FÍSICA</a:t>
            </a:r>
            <a:endParaRPr/>
          </a:p>
        </p:txBody>
      </p:sp>
      <p:sp>
        <p:nvSpPr>
          <p:cNvPr id="295" name="Google Shape;295;p9"/>
          <p:cNvSpPr txBox="1"/>
          <p:nvPr/>
        </p:nvSpPr>
        <p:spPr>
          <a:xfrm>
            <a:off x="8202168" y="4892040"/>
            <a:ext cx="28346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22850" spcFirstLastPara="1" rIns="22850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B8CAE4"/>
                </a:solidFill>
                <a:latin typeface="Arial"/>
                <a:ea typeface="Arial"/>
                <a:cs typeface="Arial"/>
                <a:sym typeface="Arial"/>
              </a:rPr>
              <a:t>Ejecución local</a:t>
            </a:r>
            <a:endParaRPr/>
          </a:p>
        </p:txBody>
      </p:sp>
      <p:sp>
        <p:nvSpPr>
          <p:cNvPr id="296" name="Google Shape;296;p9"/>
          <p:cNvSpPr/>
          <p:nvPr/>
        </p:nvSpPr>
        <p:spPr>
          <a:xfrm>
            <a:off x="4608576" y="2907792"/>
            <a:ext cx="3017520" cy="1280160"/>
          </a:xfrm>
          <a:prstGeom prst="roundRect">
            <a:avLst>
              <a:gd fmla="val 14000" name="adj"/>
            </a:avLst>
          </a:prstGeom>
          <a:solidFill>
            <a:srgbClr val="345BA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9"/>
          <p:cNvSpPr txBox="1"/>
          <p:nvPr/>
        </p:nvSpPr>
        <p:spPr>
          <a:xfrm>
            <a:off x="4773168" y="3154680"/>
            <a:ext cx="26974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22850" spcFirstLastPara="1" rIns="22850" wrap="square" tIns="13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7FAFF"/>
                </a:solidFill>
                <a:latin typeface="Arial"/>
                <a:ea typeface="Arial"/>
                <a:cs typeface="Arial"/>
                <a:sym typeface="Arial"/>
              </a:rPr>
              <a:t>+1  ESCENARIOS</a:t>
            </a:r>
            <a:endParaRPr/>
          </a:p>
        </p:txBody>
      </p:sp>
      <p:sp>
        <p:nvSpPr>
          <p:cNvPr id="298" name="Google Shape;298;p9"/>
          <p:cNvSpPr txBox="1"/>
          <p:nvPr/>
        </p:nvSpPr>
        <p:spPr>
          <a:xfrm>
            <a:off x="4809744" y="3639312"/>
            <a:ext cx="2615184" cy="356616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22850" spcFirstLastPara="1" rIns="22850" wrap="square" tIns="13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F7FAFF"/>
                </a:solidFill>
                <a:latin typeface="Arial"/>
                <a:ea typeface="Arial"/>
                <a:cs typeface="Arial"/>
                <a:sym typeface="Arial"/>
              </a:rPr>
              <a:t>Login · práctica · guardado · historial</a:t>
            </a:r>
            <a:endParaRPr/>
          </a:p>
        </p:txBody>
      </p:sp>
      <p:cxnSp>
        <p:nvCxnSpPr>
          <p:cNvPr id="299" name="Google Shape;299;p9"/>
          <p:cNvCxnSpPr/>
          <p:nvPr/>
        </p:nvCxnSpPr>
        <p:spPr>
          <a:xfrm>
            <a:off x="4142232" y="2441448"/>
            <a:ext cx="475488" cy="758952"/>
          </a:xfrm>
          <a:prstGeom prst="straightConnector1">
            <a:avLst/>
          </a:prstGeom>
          <a:noFill/>
          <a:ln cap="flat" cmpd="sng" w="25400">
            <a:solidFill>
              <a:srgbClr val="29C6B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300" name="Google Shape;300;p9"/>
          <p:cNvCxnSpPr/>
          <p:nvPr/>
        </p:nvCxnSpPr>
        <p:spPr>
          <a:xfrm flipH="1">
            <a:off x="7626096" y="2441448"/>
            <a:ext cx="420624" cy="758952"/>
          </a:xfrm>
          <a:prstGeom prst="straightConnector1">
            <a:avLst/>
          </a:prstGeom>
          <a:noFill/>
          <a:ln cap="flat" cmpd="sng" w="25400">
            <a:solidFill>
              <a:srgbClr val="29C6B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301" name="Google Shape;301;p9"/>
          <p:cNvCxnSpPr/>
          <p:nvPr/>
        </p:nvCxnSpPr>
        <p:spPr>
          <a:xfrm flipH="1" rot="10800000">
            <a:off x="4142232" y="3931920"/>
            <a:ext cx="475488" cy="941832"/>
          </a:xfrm>
          <a:prstGeom prst="straightConnector1">
            <a:avLst/>
          </a:prstGeom>
          <a:noFill/>
          <a:ln cap="flat" cmpd="sng" w="25400">
            <a:solidFill>
              <a:srgbClr val="29C6B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302" name="Google Shape;302;p9"/>
          <p:cNvCxnSpPr/>
          <p:nvPr/>
        </p:nvCxnSpPr>
        <p:spPr>
          <a:xfrm rot="10800000">
            <a:off x="7626096" y="3931920"/>
            <a:ext cx="420624" cy="941832"/>
          </a:xfrm>
          <a:prstGeom prst="straightConnector1">
            <a:avLst/>
          </a:prstGeom>
          <a:noFill/>
          <a:ln cap="flat" cmpd="sng" w="25400">
            <a:solidFill>
              <a:srgbClr val="29C6B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939"/>
        </a:solidFill>
      </p:bgPr>
    </p:bg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0"/>
          <p:cNvSpPr/>
          <p:nvPr/>
        </p:nvSpPr>
        <p:spPr>
          <a:xfrm>
            <a:off x="530352" y="438912"/>
            <a:ext cx="68580" cy="566928"/>
          </a:xfrm>
          <a:prstGeom prst="rect">
            <a:avLst/>
          </a:prstGeom>
          <a:solidFill>
            <a:srgbClr val="29C6B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0"/>
          <p:cNvSpPr txBox="1"/>
          <p:nvPr/>
        </p:nvSpPr>
        <p:spPr>
          <a:xfrm>
            <a:off x="758952" y="384048"/>
            <a:ext cx="10424160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22850" spcFirstLastPara="1" rIns="22850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7FAFF"/>
                </a:solidFill>
                <a:latin typeface="Arial"/>
                <a:ea typeface="Arial"/>
                <a:cs typeface="Arial"/>
                <a:sym typeface="Arial"/>
              </a:rPr>
              <a:t>Conclusiones y proyección</a:t>
            </a:r>
            <a:endParaRPr/>
          </a:p>
        </p:txBody>
      </p:sp>
      <p:sp>
        <p:nvSpPr>
          <p:cNvPr id="309" name="Google Shape;309;p10"/>
          <p:cNvSpPr txBox="1"/>
          <p:nvPr/>
        </p:nvSpPr>
        <p:spPr>
          <a:xfrm>
            <a:off x="786384" y="1005840"/>
            <a:ext cx="107899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22850" spcFirstLastPara="1" rIns="22850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B8CAE4"/>
                </a:solidFill>
                <a:latin typeface="Arial"/>
                <a:ea typeface="Arial"/>
                <a:cs typeface="Arial"/>
                <a:sym typeface="Arial"/>
              </a:rPr>
              <a:t>Resultados obtenidos y continuidad del proyecto</a:t>
            </a:r>
            <a:endParaRPr/>
          </a:p>
        </p:txBody>
      </p:sp>
      <p:sp>
        <p:nvSpPr>
          <p:cNvPr id="310" name="Google Shape;310;p10"/>
          <p:cNvSpPr/>
          <p:nvPr/>
        </p:nvSpPr>
        <p:spPr>
          <a:xfrm>
            <a:off x="749808" y="6345936"/>
            <a:ext cx="10652760" cy="11887"/>
          </a:xfrm>
          <a:prstGeom prst="rect">
            <a:avLst/>
          </a:prstGeom>
          <a:solidFill>
            <a:srgbClr val="33456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_speakup_fixed_crop_5.png" id="311" name="Google Shape;311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0348" y="1719075"/>
            <a:ext cx="4265426" cy="4567175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10"/>
          <p:cNvSpPr/>
          <p:nvPr/>
        </p:nvSpPr>
        <p:spPr>
          <a:xfrm>
            <a:off x="4901184" y="1700784"/>
            <a:ext cx="6355080" cy="1271016"/>
          </a:xfrm>
          <a:prstGeom prst="roundRect">
            <a:avLst>
              <a:gd fmla="val 12000" name="adj"/>
            </a:avLst>
          </a:prstGeom>
          <a:solidFill>
            <a:srgbClr val="17244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0"/>
          <p:cNvSpPr/>
          <p:nvPr/>
        </p:nvSpPr>
        <p:spPr>
          <a:xfrm>
            <a:off x="4901184" y="1700784"/>
            <a:ext cx="50292" cy="1271016"/>
          </a:xfrm>
          <a:prstGeom prst="rect">
            <a:avLst/>
          </a:prstGeom>
          <a:solidFill>
            <a:srgbClr val="29C6B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0"/>
          <p:cNvSpPr txBox="1"/>
          <p:nvPr/>
        </p:nvSpPr>
        <p:spPr>
          <a:xfrm>
            <a:off x="5102352" y="1865376"/>
            <a:ext cx="5989320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22850" spcFirstLastPara="1" rIns="22850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7FAFF"/>
                </a:solidFill>
                <a:latin typeface="Arial"/>
                <a:ea typeface="Arial"/>
                <a:cs typeface="Arial"/>
                <a:sym typeface="Arial"/>
              </a:rPr>
              <a:t>Resultado funcional</a:t>
            </a:r>
            <a:endParaRPr/>
          </a:p>
        </p:txBody>
      </p:sp>
      <p:sp>
        <p:nvSpPr>
          <p:cNvPr id="315" name="Google Shape;315;p10"/>
          <p:cNvSpPr txBox="1"/>
          <p:nvPr/>
        </p:nvSpPr>
        <p:spPr>
          <a:xfrm>
            <a:off x="5102352" y="2322576"/>
            <a:ext cx="5943600" cy="539495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22850" spcFirstLastPara="1" rIns="22850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B8CAE4"/>
                </a:solidFill>
                <a:latin typeface="Arial"/>
                <a:ea typeface="Arial"/>
                <a:cs typeface="Arial"/>
                <a:sym typeface="Arial"/>
              </a:rPr>
              <a:t>SpeakUP reconoce el discurso, calcula métricas y ofrece recomendaciones basadas en reglas.</a:t>
            </a:r>
            <a:endParaRPr/>
          </a:p>
        </p:txBody>
      </p:sp>
      <p:sp>
        <p:nvSpPr>
          <p:cNvPr id="316" name="Google Shape;316;p10"/>
          <p:cNvSpPr/>
          <p:nvPr/>
        </p:nvSpPr>
        <p:spPr>
          <a:xfrm>
            <a:off x="4901184" y="3163824"/>
            <a:ext cx="6355080" cy="1271016"/>
          </a:xfrm>
          <a:prstGeom prst="roundRect">
            <a:avLst>
              <a:gd fmla="val 12000" name="adj"/>
            </a:avLst>
          </a:prstGeom>
          <a:solidFill>
            <a:srgbClr val="17244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0"/>
          <p:cNvSpPr/>
          <p:nvPr/>
        </p:nvSpPr>
        <p:spPr>
          <a:xfrm>
            <a:off x="4901184" y="3163824"/>
            <a:ext cx="50292" cy="1271016"/>
          </a:xfrm>
          <a:prstGeom prst="rect">
            <a:avLst/>
          </a:prstGeom>
          <a:solidFill>
            <a:srgbClr val="29C6B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0"/>
          <p:cNvSpPr txBox="1"/>
          <p:nvPr/>
        </p:nvSpPr>
        <p:spPr>
          <a:xfrm>
            <a:off x="5102352" y="3328416"/>
            <a:ext cx="5989320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22850" spcFirstLastPara="1" rIns="22850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7FAFF"/>
                </a:solidFill>
                <a:latin typeface="Arial"/>
                <a:ea typeface="Arial"/>
                <a:cs typeface="Arial"/>
                <a:sym typeface="Arial"/>
              </a:rPr>
              <a:t>Persistencia y seguimiento</a:t>
            </a:r>
            <a:endParaRPr/>
          </a:p>
        </p:txBody>
      </p:sp>
      <p:sp>
        <p:nvSpPr>
          <p:cNvPr id="319" name="Google Shape;319;p10"/>
          <p:cNvSpPr txBox="1"/>
          <p:nvPr/>
        </p:nvSpPr>
        <p:spPr>
          <a:xfrm>
            <a:off x="5102352" y="3785615"/>
            <a:ext cx="5943600" cy="539495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22850" spcFirstLastPara="1" rIns="22850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B8CAE4"/>
                </a:solidFill>
                <a:latin typeface="Arial"/>
                <a:ea typeface="Arial"/>
                <a:cs typeface="Arial"/>
                <a:sym typeface="Arial"/>
              </a:rPr>
              <a:t>Las prácticas se almacenan y pueden consultarse desde «Mi progreso».</a:t>
            </a:r>
            <a:endParaRPr/>
          </a:p>
        </p:txBody>
      </p:sp>
      <p:sp>
        <p:nvSpPr>
          <p:cNvPr id="320" name="Google Shape;320;p10"/>
          <p:cNvSpPr/>
          <p:nvPr/>
        </p:nvSpPr>
        <p:spPr>
          <a:xfrm>
            <a:off x="4901184" y="4626864"/>
            <a:ext cx="6355080" cy="1271016"/>
          </a:xfrm>
          <a:prstGeom prst="roundRect">
            <a:avLst>
              <a:gd fmla="val 12000" name="adj"/>
            </a:avLst>
          </a:prstGeom>
          <a:solidFill>
            <a:srgbClr val="17244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0"/>
          <p:cNvSpPr/>
          <p:nvPr/>
        </p:nvSpPr>
        <p:spPr>
          <a:xfrm>
            <a:off x="4901184" y="4626864"/>
            <a:ext cx="50292" cy="1271016"/>
          </a:xfrm>
          <a:prstGeom prst="rect">
            <a:avLst/>
          </a:prstGeom>
          <a:solidFill>
            <a:srgbClr val="F1B96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0"/>
          <p:cNvSpPr txBox="1"/>
          <p:nvPr/>
        </p:nvSpPr>
        <p:spPr>
          <a:xfrm>
            <a:off x="5102352" y="4791455"/>
            <a:ext cx="5989320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22850" spcFirstLastPara="1" rIns="22850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7FAFF"/>
                </a:solidFill>
                <a:latin typeface="Arial"/>
                <a:ea typeface="Arial"/>
                <a:cs typeface="Arial"/>
                <a:sym typeface="Arial"/>
              </a:rPr>
              <a:t>Siguiente etapa</a:t>
            </a:r>
            <a:endParaRPr/>
          </a:p>
        </p:txBody>
      </p:sp>
      <p:sp>
        <p:nvSpPr>
          <p:cNvPr id="323" name="Google Shape;323;p10"/>
          <p:cNvSpPr txBox="1"/>
          <p:nvPr/>
        </p:nvSpPr>
        <p:spPr>
          <a:xfrm>
            <a:off x="5102352" y="5248655"/>
            <a:ext cx="5943600" cy="539495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22850" spcFirstLastPara="1" rIns="22850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B8CAE4"/>
                </a:solidFill>
                <a:latin typeface="Arial"/>
                <a:ea typeface="Arial"/>
                <a:cs typeface="Arial"/>
                <a:sym typeface="Arial"/>
              </a:rPr>
              <a:t>Validar sesiones prolongadas, mejorar seguridad y estudiar el análisis de postura con cámara.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A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530352" y="438912"/>
            <a:ext cx="64008" cy="566928"/>
          </a:xfrm>
          <a:prstGeom prst="rect">
            <a:avLst/>
          </a:prstGeom>
          <a:solidFill>
            <a:srgbClr val="22C2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58952" y="384048"/>
            <a:ext cx="104241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900" b="1">
                <a:solidFill>
                  <a:srgbClr val="FAFBFF"/>
                </a:solidFill>
                <a:latin typeface="Aptos"/>
              </a:defRPr>
            </a:pPr>
            <a:r>
              <a:t>05 · Historias de usuario | detalle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00584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B8C5DB"/>
                </a:solidFill>
                <a:latin typeface="Aptos"/>
              </a:defRPr>
            </a:pPr>
            <a:r>
              <a:t>Necesidades concretas, criterios de aceptación y trazabilidad funcional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6345936"/>
            <a:ext cx="10652760" cy="10972"/>
          </a:xfrm>
          <a:prstGeom prst="rect">
            <a:avLst/>
          </a:prstGeom>
          <a:solidFill>
            <a:srgbClr val="4253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691640"/>
            <a:ext cx="5266944" cy="1207008"/>
          </a:xfrm>
          <a:prstGeom prst="roundRect">
            <a:avLst/>
          </a:prstGeom>
          <a:solidFill>
            <a:srgbClr val="1A2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1691640"/>
            <a:ext cx="50292" cy="1207008"/>
          </a:xfrm>
          <a:prstGeom prst="rect">
            <a:avLst/>
          </a:prstGeom>
          <a:solidFill>
            <a:srgbClr val="22C2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837944"/>
            <a:ext cx="495604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FAFBFF"/>
                </a:solidFill>
                <a:latin typeface="Aptos"/>
              </a:defRPr>
            </a:pPr>
            <a:r>
              <a:t>HU-01 / HU-02 · Acceso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304288"/>
            <a:ext cx="4937759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B8C5DB"/>
                </a:solidFill>
                <a:latin typeface="Aptos"/>
              </a:defRPr>
            </a:pPr>
            <a:r>
              <a:t>Como usuario, quiero registrarme e iniciar sesión para acceder a mis prácticas.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691640"/>
            <a:ext cx="5266944" cy="1207008"/>
          </a:xfrm>
          <a:prstGeom prst="roundRect">
            <a:avLst/>
          </a:prstGeom>
          <a:solidFill>
            <a:srgbClr val="1A2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72200" y="1691640"/>
            <a:ext cx="50292" cy="1207008"/>
          </a:xfrm>
          <a:prstGeom prst="rect">
            <a:avLst/>
          </a:prstGeom>
          <a:solidFill>
            <a:srgbClr val="3963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36792" y="1837944"/>
            <a:ext cx="495604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FAFBFF"/>
                </a:solidFill>
                <a:latin typeface="Aptos"/>
              </a:defRPr>
            </a:pPr>
            <a:r>
              <a:t>HU-03 / HU-04 · Práctica oral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36792" y="2304288"/>
            <a:ext cx="4937759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B8C5DB"/>
                </a:solidFill>
                <a:latin typeface="Aptos"/>
              </a:defRPr>
            </a:pPr>
            <a:r>
              <a:t>Como usuario, quiero elegir una situación y obtener la transcripción de mi voz.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9808" y="3081528"/>
            <a:ext cx="5266944" cy="1207008"/>
          </a:xfrm>
          <a:prstGeom prst="roundRect">
            <a:avLst/>
          </a:prstGeom>
          <a:solidFill>
            <a:srgbClr val="1A2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49808" y="3081528"/>
            <a:ext cx="50292" cy="1207008"/>
          </a:xfrm>
          <a:prstGeom prst="rect">
            <a:avLst/>
          </a:prstGeom>
          <a:solidFill>
            <a:srgbClr val="22C2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227832"/>
            <a:ext cx="495604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FAFBFF"/>
                </a:solidFill>
                <a:latin typeface="Aptos"/>
              </a:defRPr>
            </a:pPr>
            <a:r>
              <a:t>HU-05 / HU-06 · Retroalimentación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694176"/>
            <a:ext cx="4937759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B8C5DB"/>
                </a:solidFill>
                <a:latin typeface="Aptos"/>
              </a:defRPr>
            </a:pPr>
            <a:r>
              <a:t>Como usuario, quiero ver métricas y consejos para identificar aspectos a mejorar.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3081528"/>
            <a:ext cx="5266944" cy="1207008"/>
          </a:xfrm>
          <a:prstGeom prst="roundRect">
            <a:avLst/>
          </a:prstGeom>
          <a:solidFill>
            <a:srgbClr val="1A2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72200" y="3081528"/>
            <a:ext cx="50292" cy="1207008"/>
          </a:xfrm>
          <a:prstGeom prst="rect">
            <a:avLst/>
          </a:prstGeom>
          <a:solidFill>
            <a:srgbClr val="3963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36792" y="3227832"/>
            <a:ext cx="495604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FAFBFF"/>
                </a:solidFill>
                <a:latin typeface="Aptos"/>
              </a:defRPr>
            </a:pPr>
            <a:r>
              <a:t>HU-07 / HU-08 · Seguimiento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36792" y="3694176"/>
            <a:ext cx="4937759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B8C5DB"/>
                </a:solidFill>
                <a:latin typeface="Aptos"/>
              </a:defRPr>
            </a:pPr>
            <a:r>
              <a:t>Como usuario, quiero guardar y consultar mis prácticas para revisar resultados.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9808" y="4608576"/>
            <a:ext cx="10689336" cy="1051560"/>
          </a:xfrm>
          <a:prstGeom prst="roundRect">
            <a:avLst/>
          </a:prstGeom>
          <a:solidFill>
            <a:srgbClr val="2339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4745736"/>
            <a:ext cx="10012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FAFBFF"/>
                </a:solidFill>
                <a:latin typeface="Aptos"/>
              </a:defRPr>
            </a:pPr>
            <a:r>
              <a:t>¿Cómo se comprueba que una historia se cumple?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5166360"/>
            <a:ext cx="10012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B8C5DB"/>
                </a:solidFill>
                <a:latin typeface="Aptos"/>
              </a:defRPr>
            </a:pPr>
            <a:r>
              <a:t>Ejemplo HU-07: al detener el micrófono, la práctica se registra y aparece en «Mi progreso».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A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530352" y="438912"/>
            <a:ext cx="64008" cy="566928"/>
          </a:xfrm>
          <a:prstGeom prst="rect">
            <a:avLst/>
          </a:prstGeom>
          <a:solidFill>
            <a:srgbClr val="22C2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58952" y="384048"/>
            <a:ext cx="104241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900" b="1">
                <a:solidFill>
                  <a:srgbClr val="FAFBFF"/>
                </a:solidFill>
                <a:latin typeface="Aptos"/>
              </a:defRPr>
            </a:pPr>
            <a:r>
              <a:t>08 · Modelo 4+1 | aplicado a SpeakUP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00584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B8C5DB"/>
                </a:solidFill>
                <a:latin typeface="Aptos"/>
              </a:defRPr>
            </a:pPr>
            <a:r>
              <a:t>Qué aporta cada perspectiva a la comprensión del sistema actual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6345936"/>
            <a:ext cx="10652760" cy="10972"/>
          </a:xfrm>
          <a:prstGeom prst="rect">
            <a:avLst/>
          </a:prstGeom>
          <a:solidFill>
            <a:srgbClr val="4253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719072"/>
            <a:ext cx="3447288" cy="1508760"/>
          </a:xfrm>
          <a:prstGeom prst="roundRect">
            <a:avLst/>
          </a:prstGeom>
          <a:solidFill>
            <a:srgbClr val="1A2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1719072"/>
            <a:ext cx="50292" cy="1508760"/>
          </a:xfrm>
          <a:prstGeom prst="rect">
            <a:avLst/>
          </a:prstGeom>
          <a:solidFill>
            <a:srgbClr val="22C2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865376"/>
            <a:ext cx="3136392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FAFBFF"/>
                </a:solidFill>
                <a:latin typeface="Aptos"/>
              </a:defRPr>
            </a:pPr>
            <a:r>
              <a:t>LÓGICA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331720"/>
            <a:ext cx="3118104" cy="795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B8C5DB"/>
                </a:solidFill>
                <a:latin typeface="Aptos"/>
              </a:defRPr>
            </a:pPr>
            <a:r>
              <a:t>Usuarios, conversaciones, prácticas y recomendaciones.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0832" y="1719072"/>
            <a:ext cx="3447288" cy="1508760"/>
          </a:xfrm>
          <a:prstGeom prst="roundRect">
            <a:avLst/>
          </a:prstGeom>
          <a:solidFill>
            <a:srgbClr val="1A2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70832" y="1719072"/>
            <a:ext cx="50292" cy="1508760"/>
          </a:xfrm>
          <a:prstGeom prst="rect">
            <a:avLst/>
          </a:prstGeom>
          <a:solidFill>
            <a:srgbClr val="3963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35424" y="1865376"/>
            <a:ext cx="3136392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FAFBFF"/>
                </a:solidFill>
                <a:latin typeface="Aptos"/>
              </a:defRPr>
            </a:pPr>
            <a:r>
              <a:t>DESARROLLO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35424" y="2331720"/>
            <a:ext cx="3118104" cy="795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B8C5DB"/>
                </a:solidFill>
                <a:latin typeface="Aptos"/>
              </a:defRPr>
            </a:pPr>
            <a:r>
              <a:t>Proyecto Django, aplicación usuarios, plantillas y JavaScript.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91856" y="1719072"/>
            <a:ext cx="3447288" cy="1508760"/>
          </a:xfrm>
          <a:prstGeom prst="roundRect">
            <a:avLst/>
          </a:prstGeom>
          <a:solidFill>
            <a:srgbClr val="1A2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991856" y="1719072"/>
            <a:ext cx="50292" cy="1508760"/>
          </a:xfrm>
          <a:prstGeom prst="rect">
            <a:avLst/>
          </a:prstGeom>
          <a:solidFill>
            <a:srgbClr val="22C2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56448" y="1865376"/>
            <a:ext cx="3136392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FAFBFF"/>
                </a:solidFill>
                <a:latin typeface="Aptos"/>
              </a:defRPr>
            </a:pPr>
            <a:r>
              <a:t>PROCESOS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56448" y="2331720"/>
            <a:ext cx="3118104" cy="795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B8C5DB"/>
                </a:solidFill>
                <a:latin typeface="Aptos"/>
              </a:defRPr>
            </a:pPr>
            <a:r>
              <a:t>Micrófono → transcripción → análisis → guardado.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8" y="3456432"/>
            <a:ext cx="5266944" cy="1408176"/>
          </a:xfrm>
          <a:prstGeom prst="roundRect">
            <a:avLst/>
          </a:prstGeom>
          <a:solidFill>
            <a:srgbClr val="1A2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49808" y="3456432"/>
            <a:ext cx="50292" cy="1408176"/>
          </a:xfrm>
          <a:prstGeom prst="rect">
            <a:avLst/>
          </a:prstGeom>
          <a:solidFill>
            <a:srgbClr val="3963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3602736"/>
            <a:ext cx="495604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FAFBFF"/>
                </a:solidFill>
                <a:latin typeface="Aptos"/>
              </a:defRPr>
            </a:pPr>
            <a:r>
              <a:t>FÍSICA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069080"/>
            <a:ext cx="4937759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B8C5DB"/>
                </a:solidFill>
                <a:latin typeface="Aptos"/>
              </a:defRPr>
            </a:pPr>
            <a:r>
              <a:t>Chrome, servidor Django y archivo SQLite en un entorno local.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72200" y="3456432"/>
            <a:ext cx="5266944" cy="1408176"/>
          </a:xfrm>
          <a:prstGeom prst="roundRect">
            <a:avLst/>
          </a:prstGeom>
          <a:solidFill>
            <a:srgbClr val="1A2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72200" y="3456432"/>
            <a:ext cx="50292" cy="1408176"/>
          </a:xfrm>
          <a:prstGeom prst="rect">
            <a:avLst/>
          </a:prstGeom>
          <a:solidFill>
            <a:srgbClr val="22C2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36792" y="3602736"/>
            <a:ext cx="495604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FAFBFF"/>
                </a:solidFill>
                <a:latin typeface="Aptos"/>
              </a:defRPr>
            </a:pPr>
            <a:r>
              <a:t>+1 · ESCENARIOS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36792" y="4069080"/>
            <a:ext cx="4937759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B8C5DB"/>
                </a:solidFill>
                <a:latin typeface="Aptos"/>
              </a:defRPr>
            </a:pPr>
            <a:r>
              <a:t>Inicio de sesión, práctica oral, almacenamiento y consulta del historial.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49808" y="5120640"/>
            <a:ext cx="10689336" cy="685800"/>
          </a:xfrm>
          <a:prstGeom prst="roundRect">
            <a:avLst/>
          </a:prstGeom>
          <a:solidFill>
            <a:srgbClr val="2339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0976" y="5312664"/>
            <a:ext cx="102595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FAFBFF"/>
                </a:solidFill>
                <a:latin typeface="Aptos"/>
              </a:defRPr>
            </a:pPr>
            <a:r>
              <a:t>La cámara para analizar postura es una propuesta futura; no forma parte del sistema implementado.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